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64" r:id="rId5"/>
    <p:sldId id="265" r:id="rId6"/>
    <p:sldId id="266" r:id="rId7"/>
    <p:sldId id="267" r:id="rId8"/>
    <p:sldId id="269" r:id="rId9"/>
    <p:sldId id="268" r:id="rId1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5050" autoAdjust="0"/>
  </p:normalViewPr>
  <p:slideViewPr>
    <p:cSldViewPr snapToGrid="0">
      <p:cViewPr varScale="1">
        <p:scale>
          <a:sx n="73" d="100"/>
          <a:sy n="73" d="100"/>
        </p:scale>
        <p:origin x="107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8D4473-9BDA-4585-B804-70D333B1C4DA}" type="datetimeFigureOut">
              <a:rPr lang="es-ES" smtClean="0"/>
              <a:t>27/10/2022</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9573F2-88C5-4EA2-94E8-2213C05FB36E}" type="slidenum">
              <a:rPr lang="es-ES" smtClean="0"/>
              <a:t>‹Nº›</a:t>
            </a:fld>
            <a:endParaRPr lang="es-ES"/>
          </a:p>
        </p:txBody>
      </p:sp>
    </p:spTree>
    <p:extLst>
      <p:ext uri="{BB962C8B-B14F-4D97-AF65-F5344CB8AC3E}">
        <p14:creationId xmlns:p14="http://schemas.microsoft.com/office/powerpoint/2010/main" val="87706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Buenas tardes, mi nombre es Miguel García, y junto con mi compañero Gerard mas vamos a comentaros nuestros experimentos sobre diferentes etiquetadores morfosintácticos aplicados al español.</a:t>
            </a:r>
          </a:p>
        </p:txBody>
      </p:sp>
      <p:sp>
        <p:nvSpPr>
          <p:cNvPr id="4" name="Marcador de número de diapositiva 3"/>
          <p:cNvSpPr>
            <a:spLocks noGrp="1"/>
          </p:cNvSpPr>
          <p:nvPr>
            <p:ph type="sldNum" sz="quarter" idx="5"/>
          </p:nvPr>
        </p:nvSpPr>
        <p:spPr/>
        <p:txBody>
          <a:bodyPr/>
          <a:lstStyle/>
          <a:p>
            <a:fld id="{AE9573F2-88C5-4EA2-94E8-2213C05FB36E}" type="slidenum">
              <a:rPr lang="es-ES" smtClean="0"/>
              <a:t>1</a:t>
            </a:fld>
            <a:endParaRPr lang="es-ES"/>
          </a:p>
        </p:txBody>
      </p:sp>
    </p:spTree>
    <p:extLst>
      <p:ext uri="{BB962C8B-B14F-4D97-AF65-F5344CB8AC3E}">
        <p14:creationId xmlns:p14="http://schemas.microsoft.com/office/powerpoint/2010/main" val="36627157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 lo largo de la presentación vamos a comentar ciertos aspectos o resultados que consideremos que son relevantes para ambos modelos de HMM, el modelo suavizado de </a:t>
            </a:r>
            <a:r>
              <a:rPr lang="es-ES" dirty="0" err="1"/>
              <a:t>TnT</a:t>
            </a:r>
            <a:r>
              <a:rPr lang="es-ES" dirty="0"/>
              <a:t> y  los compararemos con otros que están disponibles en el paquete de NLTK. Concluiremos comentando brevemente la herramienta </a:t>
            </a:r>
            <a:r>
              <a:rPr lang="es-ES" dirty="0" err="1"/>
              <a:t>spacy</a:t>
            </a:r>
            <a:r>
              <a:rPr lang="es-ES" dirty="0"/>
              <a:t> y el etiquetado realizado sobre el corpus de Alicia.”</a:t>
            </a:r>
          </a:p>
        </p:txBody>
      </p:sp>
      <p:sp>
        <p:nvSpPr>
          <p:cNvPr id="4" name="Marcador de número de diapositiva 3"/>
          <p:cNvSpPr>
            <a:spLocks noGrp="1"/>
          </p:cNvSpPr>
          <p:nvPr>
            <p:ph type="sldNum" sz="quarter" idx="5"/>
          </p:nvPr>
        </p:nvSpPr>
        <p:spPr/>
        <p:txBody>
          <a:bodyPr/>
          <a:lstStyle/>
          <a:p>
            <a:fld id="{AE9573F2-88C5-4EA2-94E8-2213C05FB36E}" type="slidenum">
              <a:rPr lang="es-ES" smtClean="0"/>
              <a:t>2</a:t>
            </a:fld>
            <a:endParaRPr lang="es-ES"/>
          </a:p>
        </p:txBody>
      </p:sp>
    </p:spTree>
    <p:extLst>
      <p:ext uri="{BB962C8B-B14F-4D97-AF65-F5344CB8AC3E}">
        <p14:creationId xmlns:p14="http://schemas.microsoft.com/office/powerpoint/2010/main" val="12026588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Remarcar que, desde este punto en adelante, siempre que hagamos referencia al etiquetador basade en modelos de </a:t>
            </a:r>
            <a:r>
              <a:rPr lang="es-ES" dirty="0" err="1"/>
              <a:t>markov</a:t>
            </a:r>
            <a:r>
              <a:rPr lang="es-ES" dirty="0"/>
              <a:t>, estaremos haciendo referencia al que hemos entrenado con el conjunto reducido de clases. Aclarado esto, con respecto al etiquetado con tamaño incremental del conjunto de entrenamiento, vemos que cuando el entrenamiento se ha hecho con pocos datos (1,2 o 3), el hecho de agregar más, genera una mejora mucho más significativa que cuando el conjunto ya es de un tamaño considerable. (7,8 o 9)</a:t>
            </a:r>
          </a:p>
        </p:txBody>
      </p:sp>
      <p:sp>
        <p:nvSpPr>
          <p:cNvPr id="4" name="Marcador de número de diapositiva 3"/>
          <p:cNvSpPr>
            <a:spLocks noGrp="1"/>
          </p:cNvSpPr>
          <p:nvPr>
            <p:ph type="sldNum" sz="quarter" idx="5"/>
          </p:nvPr>
        </p:nvSpPr>
        <p:spPr/>
        <p:txBody>
          <a:bodyPr/>
          <a:lstStyle/>
          <a:p>
            <a:fld id="{AE9573F2-88C5-4EA2-94E8-2213C05FB36E}" type="slidenum">
              <a:rPr lang="es-ES" smtClean="0"/>
              <a:t>4</a:t>
            </a:fld>
            <a:endParaRPr lang="es-ES"/>
          </a:p>
        </p:txBody>
      </p:sp>
    </p:spTree>
    <p:extLst>
      <p:ext uri="{BB962C8B-B14F-4D97-AF65-F5344CB8AC3E}">
        <p14:creationId xmlns:p14="http://schemas.microsoft.com/office/powerpoint/2010/main" val="2563194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dirty="0"/>
              <a:t>Acabando la revisión del paquete NLTK, hemos comparado el resultado de los mejores modelos obtenidos para HMM y </a:t>
            </a:r>
            <a:r>
              <a:rPr lang="es-ES" dirty="0" err="1"/>
              <a:t>TnT</a:t>
            </a:r>
            <a:r>
              <a:rPr lang="es-ES" dirty="0"/>
              <a:t> con los otros modelos disponibles en el paquete. En concreto hemos utilizado:</a:t>
            </a:r>
          </a:p>
          <a:p>
            <a:pPr marL="0" indent="0">
              <a:buFontTx/>
              <a:buNone/>
            </a:pPr>
            <a:r>
              <a:rPr lang="es-ES" dirty="0"/>
              <a:t>- el etiquetador de </a:t>
            </a:r>
            <a:r>
              <a:rPr lang="es-ES" dirty="0" err="1"/>
              <a:t>brill</a:t>
            </a:r>
            <a:r>
              <a:rPr lang="es-ES" dirty="0"/>
              <a:t>, basado tanto en </a:t>
            </a:r>
            <a:r>
              <a:rPr lang="es-ES" dirty="0" err="1"/>
              <a:t>unigramas</a:t>
            </a:r>
            <a:r>
              <a:rPr lang="es-ES" dirty="0"/>
              <a:t> como en HMM y como </a:t>
            </a:r>
            <a:r>
              <a:rPr lang="es-ES" dirty="0" err="1"/>
              <a:t>templates</a:t>
            </a:r>
            <a:r>
              <a:rPr lang="es-ES" dirty="0"/>
              <a:t> para este, hemos utilizado 3 de los 4 que ya vienen en el paquete</a:t>
            </a:r>
          </a:p>
          <a:p>
            <a:pPr marL="171450" indent="-171450">
              <a:buFontTx/>
              <a:buChar char="-"/>
            </a:pPr>
            <a:r>
              <a:rPr lang="es-ES" dirty="0"/>
              <a:t>El etiquetador basado en perceptrón y el </a:t>
            </a:r>
            <a:r>
              <a:rPr lang="es-ES" dirty="0" err="1"/>
              <a:t>conditional</a:t>
            </a:r>
            <a:r>
              <a:rPr lang="es-ES" dirty="0"/>
              <a:t> </a:t>
            </a:r>
            <a:r>
              <a:rPr lang="es-ES" dirty="0" err="1"/>
              <a:t>random</a:t>
            </a:r>
            <a:r>
              <a:rPr lang="es-ES" dirty="0"/>
              <a:t> </a:t>
            </a:r>
            <a:r>
              <a:rPr lang="es-ES" dirty="0" err="1"/>
              <a:t>fields</a:t>
            </a:r>
            <a:endParaRPr lang="es-ES" dirty="0"/>
          </a:p>
          <a:p>
            <a:pPr marL="0" indent="0">
              <a:buFontTx/>
              <a:buNone/>
            </a:pPr>
            <a:r>
              <a:rPr lang="es-ES" dirty="0"/>
              <a:t>De la tabla, más allá de que el perceptrón es el que mejor </a:t>
            </a:r>
            <a:r>
              <a:rPr lang="es-ES" dirty="0" err="1"/>
              <a:t>accuracy</a:t>
            </a:r>
            <a:r>
              <a:rPr lang="es-ES" dirty="0"/>
              <a:t> presenta nos gustaría remarcar dos cosas: La primera es que el etiquetador de </a:t>
            </a:r>
            <a:r>
              <a:rPr lang="es-ES" dirty="0" err="1"/>
              <a:t>brill</a:t>
            </a:r>
            <a:r>
              <a:rPr lang="es-ES" dirty="0"/>
              <a:t> con diferentes </a:t>
            </a:r>
            <a:r>
              <a:rPr lang="es-ES" dirty="0" err="1"/>
              <a:t>templates</a:t>
            </a:r>
            <a:r>
              <a:rPr lang="es-ES" dirty="0"/>
              <a:t> y partiendo de un HMM no ha supuesto una mejora considerable con respecto al modelo HMM base.</a:t>
            </a:r>
          </a:p>
          <a:p>
            <a:pPr marL="0" indent="0">
              <a:buFontTx/>
              <a:buNone/>
            </a:pPr>
            <a:r>
              <a:rPr lang="es-ES" dirty="0"/>
              <a:t>Finalmente, nos gustaría remarcar cómo el modelo </a:t>
            </a:r>
            <a:r>
              <a:rPr lang="es-ES" dirty="0" err="1"/>
              <a:t>genetado</a:t>
            </a:r>
            <a:r>
              <a:rPr lang="es-ES" dirty="0"/>
              <a:t> de </a:t>
            </a:r>
            <a:r>
              <a:rPr lang="es-ES" dirty="0" err="1"/>
              <a:t>TnT</a:t>
            </a:r>
            <a:r>
              <a:rPr lang="es-ES" dirty="0"/>
              <a:t> con longitud 3 del sufijo está realmente cerca de los resultados obtenidos por perceptrón y CRF</a:t>
            </a:r>
          </a:p>
        </p:txBody>
      </p:sp>
      <p:sp>
        <p:nvSpPr>
          <p:cNvPr id="4" name="Marcador de número de diapositiva 3"/>
          <p:cNvSpPr>
            <a:spLocks noGrp="1"/>
          </p:cNvSpPr>
          <p:nvPr>
            <p:ph type="sldNum" sz="quarter" idx="5"/>
          </p:nvPr>
        </p:nvSpPr>
        <p:spPr/>
        <p:txBody>
          <a:bodyPr/>
          <a:lstStyle/>
          <a:p>
            <a:fld id="{AE9573F2-88C5-4EA2-94E8-2213C05FB36E}" type="slidenum">
              <a:rPr lang="es-ES" smtClean="0"/>
              <a:t>7</a:t>
            </a:fld>
            <a:endParaRPr lang="es-ES"/>
          </a:p>
        </p:txBody>
      </p:sp>
    </p:spTree>
    <p:extLst>
      <p:ext uri="{BB962C8B-B14F-4D97-AF65-F5344CB8AC3E}">
        <p14:creationId xmlns:p14="http://schemas.microsoft.com/office/powerpoint/2010/main" val="39701785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A3D590-D7CD-6F74-03C7-3177FB40ED4F}"/>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FC3721C4-6861-0244-CDDC-09F1025F8AD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C8C94316-C34B-BDB2-BCAE-4E4A37B83FFD}"/>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5" name="Marcador de pie de página 4">
            <a:extLst>
              <a:ext uri="{FF2B5EF4-FFF2-40B4-BE49-F238E27FC236}">
                <a16:creationId xmlns:a16="http://schemas.microsoft.com/office/drawing/2014/main" id="{DDCB3A65-0B98-F022-828C-B176AB11700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78072BD-B446-C18D-DD61-E3650B164114}"/>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2994602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6E8B1A6-FC98-FFD1-E30A-8DD530783C38}"/>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1F00360F-9B41-535F-42B1-E6973843481D}"/>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A235D74-AC20-982D-C9E7-2915BFF70B8D}"/>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5" name="Marcador de pie de página 4">
            <a:extLst>
              <a:ext uri="{FF2B5EF4-FFF2-40B4-BE49-F238E27FC236}">
                <a16:creationId xmlns:a16="http://schemas.microsoft.com/office/drawing/2014/main" id="{CD0CB571-E823-953D-EB86-27BADF990D68}"/>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284ED632-0C45-1024-ABE3-3998A8DF1C73}"/>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720652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A29844-9394-10C2-324C-DF97A3FD339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BFA95F50-FCB9-4D9C-6A9A-AFCB78B6363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FE4005F-E1C8-D26C-6B59-CD61666FE620}"/>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5" name="Marcador de pie de página 4">
            <a:extLst>
              <a:ext uri="{FF2B5EF4-FFF2-40B4-BE49-F238E27FC236}">
                <a16:creationId xmlns:a16="http://schemas.microsoft.com/office/drawing/2014/main" id="{1BB76476-9F3E-5B27-F528-77B0EFEF756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8BF1B180-5654-0743-A38C-D703B32308B4}"/>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4056968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E876D2-4900-D4ED-68FC-9BAC659D380E}"/>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303EC911-83DA-3134-4DE6-337C1358B0A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289411A9-EC4F-F379-6B65-46F689A6F3E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6DAC6E0A-3C88-58FA-14A1-DDD59F9AAC64}"/>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6" name="Marcador de pie de página 5">
            <a:extLst>
              <a:ext uri="{FF2B5EF4-FFF2-40B4-BE49-F238E27FC236}">
                <a16:creationId xmlns:a16="http://schemas.microsoft.com/office/drawing/2014/main" id="{1B637EFE-34C7-65A0-3813-E3596AA4396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EA5C08E-ACD7-35BD-8E69-C351E19AE64E}"/>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620659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3346161-41AB-92B7-365A-C531EFD155D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E08763C-FBF6-6EB0-AB2F-44BBAA2C42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D2B572AC-ABF0-CCD0-2DC6-95AF3E83F064}"/>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29740E12-C9BB-34AA-09CE-3F829CC4A5D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72A3B4E-0A61-2979-4402-BD74642EBFF0}"/>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1C4A9783-2608-90C0-8C88-67E4BB19EC60}"/>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8" name="Marcador de pie de página 7">
            <a:extLst>
              <a:ext uri="{FF2B5EF4-FFF2-40B4-BE49-F238E27FC236}">
                <a16:creationId xmlns:a16="http://schemas.microsoft.com/office/drawing/2014/main" id="{8B10DF6A-928E-1E29-116E-A2CC206173F5}"/>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F64420DC-EE8E-63BD-03FD-E0A3FDD64ADC}"/>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18956574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422D988-059B-1A1D-700E-56B7302DAB1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C5D1E9F2-2759-96BB-F836-9966058DEC84}"/>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4" name="Marcador de pie de página 3">
            <a:extLst>
              <a:ext uri="{FF2B5EF4-FFF2-40B4-BE49-F238E27FC236}">
                <a16:creationId xmlns:a16="http://schemas.microsoft.com/office/drawing/2014/main" id="{214A93E7-D8E4-DFD5-9554-94EA52EFC6D4}"/>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02EFA6CF-A456-A765-3F0B-CBBE4BB9CF01}"/>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34361299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FCB80DDE-7901-9517-D8C9-E2C88612690C}"/>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3" name="Marcador de pie de página 2">
            <a:extLst>
              <a:ext uri="{FF2B5EF4-FFF2-40B4-BE49-F238E27FC236}">
                <a16:creationId xmlns:a16="http://schemas.microsoft.com/office/drawing/2014/main" id="{2043A854-6E22-4201-CD6D-FE7F61A2C49B}"/>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3D01D6AA-16A8-B535-74AA-AF1A89C67D88}"/>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34293345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6AEE184-2CFF-75B0-1485-BA47B5399AC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1577AB1-332D-A358-DC73-887D817F0B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29136748-8D21-F2B8-DCD4-5E559BBC5C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D45C2B5-03A9-EA04-E3E3-B81DF7F77134}"/>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6" name="Marcador de pie de página 5">
            <a:extLst>
              <a:ext uri="{FF2B5EF4-FFF2-40B4-BE49-F238E27FC236}">
                <a16:creationId xmlns:a16="http://schemas.microsoft.com/office/drawing/2014/main" id="{F710EAF5-49D7-DD2D-0663-F7B17862404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C1167254-046C-1AAF-4D97-32833FBD9743}"/>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1227536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D1A714-FB65-963C-135F-B3E7B144AB9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96C04BA9-DA24-4518-433A-294186B5E97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266D3B12-236E-7A8F-50D2-A2D88A06BEA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D80E6AF8-BA72-89B1-1B89-DEE9A178ED7F}"/>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6" name="Marcador de pie de página 5">
            <a:extLst>
              <a:ext uri="{FF2B5EF4-FFF2-40B4-BE49-F238E27FC236}">
                <a16:creationId xmlns:a16="http://schemas.microsoft.com/office/drawing/2014/main" id="{E48A171C-098B-EE59-BEA5-0136D0D5754B}"/>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8B8CB644-71BD-EFEA-4930-0ED92CB3AE54}"/>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3009748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534B41-561E-D943-ED2A-F92335A90A1D}"/>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FCE73FA1-C514-5863-CFA9-24A370516FA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97CBF6E-62FF-D54E-956E-4D48398B59BF}"/>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5" name="Marcador de pie de página 4">
            <a:extLst>
              <a:ext uri="{FF2B5EF4-FFF2-40B4-BE49-F238E27FC236}">
                <a16:creationId xmlns:a16="http://schemas.microsoft.com/office/drawing/2014/main" id="{FE0EEA99-7BCB-5836-2508-5B370B61ECA0}"/>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6DE7965-A6F9-FA02-51ED-94CDDE39676C}"/>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6598023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FDFB618-648B-2E6E-5AFD-BC1A861509B3}"/>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3BFBD664-1FD0-8FB5-EE72-FBE70C285DD6}"/>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A30B866-26A0-9AD6-87A0-3FD2647B90B5}"/>
              </a:ext>
            </a:extLst>
          </p:cNvPr>
          <p:cNvSpPr>
            <a:spLocks noGrp="1"/>
          </p:cNvSpPr>
          <p:nvPr>
            <p:ph type="dt" sz="half" idx="10"/>
          </p:nvPr>
        </p:nvSpPr>
        <p:spPr/>
        <p:txBody>
          <a:bodyPr/>
          <a:lstStyle/>
          <a:p>
            <a:fld id="{C738BDF0-771B-4491-8F11-FB05A817B04C}" type="datetimeFigureOut">
              <a:rPr lang="es-ES" smtClean="0"/>
              <a:t>27/10/2022</a:t>
            </a:fld>
            <a:endParaRPr lang="es-ES"/>
          </a:p>
        </p:txBody>
      </p:sp>
      <p:sp>
        <p:nvSpPr>
          <p:cNvPr id="5" name="Marcador de pie de página 4">
            <a:extLst>
              <a:ext uri="{FF2B5EF4-FFF2-40B4-BE49-F238E27FC236}">
                <a16:creationId xmlns:a16="http://schemas.microsoft.com/office/drawing/2014/main" id="{2B404CFA-34B4-0D07-7B41-D52F48BB7AB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488D3FB3-D3E0-A1CF-6B08-EB7B5C1AF18C}"/>
              </a:ext>
            </a:extLst>
          </p:cNvPr>
          <p:cNvSpPr>
            <a:spLocks noGrp="1"/>
          </p:cNvSpPr>
          <p:nvPr>
            <p:ph type="sldNum" sz="quarter" idx="12"/>
          </p:nvPr>
        </p:nvSpPr>
        <p:spPr/>
        <p:txBody>
          <a:bodyPr/>
          <a:lstStyle/>
          <a:p>
            <a:fld id="{46212DF5-B14C-4AA2-AF03-18362D513134}" type="slidenum">
              <a:rPr lang="es-ES" smtClean="0"/>
              <a:t>‹Nº›</a:t>
            </a:fld>
            <a:endParaRPr lang="es-ES"/>
          </a:p>
        </p:txBody>
      </p:sp>
    </p:spTree>
    <p:extLst>
      <p:ext uri="{BB962C8B-B14F-4D97-AF65-F5344CB8AC3E}">
        <p14:creationId xmlns:p14="http://schemas.microsoft.com/office/powerpoint/2010/main" val="4928916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BA59A2F-FAD5-39A4-B540-838F8615DA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1CF686EA-42E1-F33B-B03E-2EE32C56CD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E0DDF4D-F1D9-FD1F-8BEF-CAA829C217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38BDF0-771B-4491-8F11-FB05A817B04C}" type="datetimeFigureOut">
              <a:rPr lang="es-ES" smtClean="0"/>
              <a:t>27/10/2022</a:t>
            </a:fld>
            <a:endParaRPr lang="es-ES"/>
          </a:p>
        </p:txBody>
      </p:sp>
      <p:sp>
        <p:nvSpPr>
          <p:cNvPr id="5" name="Marcador de pie de página 4">
            <a:extLst>
              <a:ext uri="{FF2B5EF4-FFF2-40B4-BE49-F238E27FC236}">
                <a16:creationId xmlns:a16="http://schemas.microsoft.com/office/drawing/2014/main" id="{6DF85AD1-6135-5655-3311-6B524B7FFA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a:extLst>
              <a:ext uri="{FF2B5EF4-FFF2-40B4-BE49-F238E27FC236}">
                <a16:creationId xmlns:a16="http://schemas.microsoft.com/office/drawing/2014/main" id="{859B9C81-6921-668D-057E-7043ECAB272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212DF5-B14C-4AA2-AF03-18362D513134}" type="slidenum">
              <a:rPr lang="es-ES" smtClean="0"/>
              <a:t>‹Nº›</a:t>
            </a:fld>
            <a:endParaRPr lang="es-ES"/>
          </a:p>
        </p:txBody>
      </p:sp>
    </p:spTree>
    <p:extLst>
      <p:ext uri="{BB962C8B-B14F-4D97-AF65-F5344CB8AC3E}">
        <p14:creationId xmlns:p14="http://schemas.microsoft.com/office/powerpoint/2010/main" val="34277946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jpg"/><Relationship Id="rId5" Type="http://schemas.openxmlformats.org/officeDocument/2006/relationships/image" Target="../media/image8.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4.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3.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2.jp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26F89854-A38B-41AE-E7BE-3191BCB4F159}"/>
              </a:ext>
            </a:extLst>
          </p:cNvPr>
          <p:cNvSpPr>
            <a:spLocks noGrp="1"/>
          </p:cNvSpPr>
          <p:nvPr>
            <p:ph type="ctrTitle"/>
          </p:nvPr>
        </p:nvSpPr>
        <p:spPr>
          <a:xfrm>
            <a:off x="638882" y="3577456"/>
            <a:ext cx="10909640" cy="1687814"/>
          </a:xfrm>
        </p:spPr>
        <p:txBody>
          <a:bodyPr anchor="b">
            <a:normAutofit fontScale="90000"/>
          </a:bodyPr>
          <a:lstStyle/>
          <a:p>
            <a:r>
              <a:rPr lang="es-ES" sz="6600" dirty="0"/>
              <a:t>Etiquetadores morfosintácticos para el español</a:t>
            </a:r>
          </a:p>
        </p:txBody>
      </p:sp>
      <p:pic>
        <p:nvPicPr>
          <p:cNvPr id="5" name="Imagen 4" descr="Un dibujo de un mapa&#10;&#10;Descripción generada automáticamente con confianza baja">
            <a:extLst>
              <a:ext uri="{FF2B5EF4-FFF2-40B4-BE49-F238E27FC236}">
                <a16:creationId xmlns:a16="http://schemas.microsoft.com/office/drawing/2014/main" id="{B4BE14A7-91DE-71D3-BF87-D19082E8E2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88435" y="591670"/>
            <a:ext cx="4810533" cy="2742004"/>
          </a:xfrm>
          <a:prstGeom prst="rect">
            <a:avLst/>
          </a:prstGeom>
        </p:spPr>
      </p:pic>
      <p:sp>
        <p:nvSpPr>
          <p:cNvPr id="12"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onnsiteX0" fmla="*/ 0 w 4572000"/>
              <a:gd name="connsiteY0" fmla="*/ 0 h 18288"/>
              <a:gd name="connsiteX1" fmla="*/ 515983 w 4572000"/>
              <a:gd name="connsiteY1" fmla="*/ 0 h 18288"/>
              <a:gd name="connsiteX2" fmla="*/ 1031966 w 4572000"/>
              <a:gd name="connsiteY2" fmla="*/ 0 h 18288"/>
              <a:gd name="connsiteX3" fmla="*/ 1639389 w 4572000"/>
              <a:gd name="connsiteY3" fmla="*/ 0 h 18288"/>
              <a:gd name="connsiteX4" fmla="*/ 2383971 w 4572000"/>
              <a:gd name="connsiteY4" fmla="*/ 0 h 18288"/>
              <a:gd name="connsiteX5" fmla="*/ 2945674 w 4572000"/>
              <a:gd name="connsiteY5" fmla="*/ 0 h 18288"/>
              <a:gd name="connsiteX6" fmla="*/ 3507377 w 4572000"/>
              <a:gd name="connsiteY6" fmla="*/ 0 h 18288"/>
              <a:gd name="connsiteX7" fmla="*/ 4572000 w 4572000"/>
              <a:gd name="connsiteY7" fmla="*/ 0 h 18288"/>
              <a:gd name="connsiteX8" fmla="*/ 4572000 w 4572000"/>
              <a:gd name="connsiteY8" fmla="*/ 18288 h 18288"/>
              <a:gd name="connsiteX9" fmla="*/ 3873137 w 4572000"/>
              <a:gd name="connsiteY9" fmla="*/ 18288 h 18288"/>
              <a:gd name="connsiteX10" fmla="*/ 3311434 w 4572000"/>
              <a:gd name="connsiteY10" fmla="*/ 18288 h 18288"/>
              <a:gd name="connsiteX11" fmla="*/ 2749731 w 4572000"/>
              <a:gd name="connsiteY11" fmla="*/ 18288 h 18288"/>
              <a:gd name="connsiteX12" fmla="*/ 2050869 w 4572000"/>
              <a:gd name="connsiteY12" fmla="*/ 18288 h 18288"/>
              <a:gd name="connsiteX13" fmla="*/ 1306286 w 4572000"/>
              <a:gd name="connsiteY13" fmla="*/ 18288 h 18288"/>
              <a:gd name="connsiteX14" fmla="*/ 790303 w 4572000"/>
              <a:gd name="connsiteY14" fmla="*/ 18288 h 18288"/>
              <a:gd name="connsiteX15" fmla="*/ 0 w 4572000"/>
              <a:gd name="connsiteY15" fmla="*/ 18288 h 18288"/>
              <a:gd name="connsiteX16" fmla="*/ 0 w 457200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uadroTexto 5">
            <a:extLst>
              <a:ext uri="{FF2B5EF4-FFF2-40B4-BE49-F238E27FC236}">
                <a16:creationId xmlns:a16="http://schemas.microsoft.com/office/drawing/2014/main" id="{6F720063-F241-9D2F-611E-ADB8CCE07C52}"/>
              </a:ext>
            </a:extLst>
          </p:cNvPr>
          <p:cNvSpPr txBox="1"/>
          <p:nvPr/>
        </p:nvSpPr>
        <p:spPr>
          <a:xfrm>
            <a:off x="638882" y="5876925"/>
            <a:ext cx="10909640" cy="369332"/>
          </a:xfrm>
          <a:prstGeom prst="rect">
            <a:avLst/>
          </a:prstGeom>
          <a:noFill/>
        </p:spPr>
        <p:txBody>
          <a:bodyPr wrap="square" numCol="2" rtlCol="0">
            <a:spAutoFit/>
          </a:bodyPr>
          <a:lstStyle/>
          <a:p>
            <a:pPr algn="ctr"/>
            <a:r>
              <a:rPr lang="es-ES" dirty="0"/>
              <a:t>Miguel García Bohigues</a:t>
            </a:r>
          </a:p>
          <a:p>
            <a:pPr algn="ctr"/>
            <a:r>
              <a:rPr lang="es-ES" dirty="0"/>
              <a:t>Gerard Mas </a:t>
            </a:r>
            <a:r>
              <a:rPr lang="es-ES" dirty="0" err="1"/>
              <a:t>Mollà</a:t>
            </a:r>
            <a:endParaRPr lang="es-ES" dirty="0"/>
          </a:p>
        </p:txBody>
      </p:sp>
      <p:pic>
        <p:nvPicPr>
          <p:cNvPr id="7" name="Imagen 6" descr="Imagen que contiene Texto&#10;&#10;Descripción generada automáticamente">
            <a:extLst>
              <a:ext uri="{FF2B5EF4-FFF2-40B4-BE49-F238E27FC236}">
                <a16:creationId xmlns:a16="http://schemas.microsoft.com/office/drawing/2014/main" id="{5775C0A0-79DF-46A6-0BDC-0641FAB31F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9" name="Imagen 8" descr="Logotipo&#10;&#10;Descripción generada automáticamente con confianza media">
            <a:extLst>
              <a:ext uri="{FF2B5EF4-FFF2-40B4-BE49-F238E27FC236}">
                <a16:creationId xmlns:a16="http://schemas.microsoft.com/office/drawing/2014/main" id="{188BEBE6-84E8-F0FE-5354-642A15BB13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spTree>
    <p:extLst>
      <p:ext uri="{BB962C8B-B14F-4D97-AF65-F5344CB8AC3E}">
        <p14:creationId xmlns:p14="http://schemas.microsoft.com/office/powerpoint/2010/main" val="15443234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86758DA-9FBA-82D3-3AB5-990DFE55996F}"/>
              </a:ext>
            </a:extLst>
          </p:cNvPr>
          <p:cNvSpPr>
            <a:spLocks noGrp="1"/>
          </p:cNvSpPr>
          <p:nvPr>
            <p:ph type="title"/>
          </p:nvPr>
        </p:nvSpPr>
        <p:spPr/>
        <p:txBody>
          <a:bodyPr/>
          <a:lstStyle/>
          <a:p>
            <a:r>
              <a:rPr lang="es-ES" dirty="0"/>
              <a:t>Índice</a:t>
            </a:r>
          </a:p>
        </p:txBody>
      </p:sp>
      <p:sp>
        <p:nvSpPr>
          <p:cNvPr id="3" name="Marcador de contenido 2">
            <a:extLst>
              <a:ext uri="{FF2B5EF4-FFF2-40B4-BE49-F238E27FC236}">
                <a16:creationId xmlns:a16="http://schemas.microsoft.com/office/drawing/2014/main" id="{52AC1EAE-CFBB-0DB9-7050-CFBC933C3A3E}"/>
              </a:ext>
            </a:extLst>
          </p:cNvPr>
          <p:cNvSpPr>
            <a:spLocks noGrp="1"/>
          </p:cNvSpPr>
          <p:nvPr>
            <p:ph idx="1"/>
          </p:nvPr>
        </p:nvSpPr>
        <p:spPr/>
        <p:txBody>
          <a:bodyPr/>
          <a:lstStyle/>
          <a:p>
            <a:pPr marL="514350" indent="-514350">
              <a:buFont typeface="+mj-lt"/>
              <a:buAutoNum type="arabicPeriod"/>
            </a:pPr>
            <a:r>
              <a:rPr lang="es-ES" dirty="0"/>
              <a:t>Etiquetado por HMM con variación del número de etiquetas</a:t>
            </a:r>
          </a:p>
          <a:p>
            <a:pPr marL="514350" indent="-514350">
              <a:buFont typeface="+mj-lt"/>
              <a:buAutoNum type="arabicPeriod"/>
            </a:pPr>
            <a:r>
              <a:rPr lang="es-ES" dirty="0"/>
              <a:t>Etiquetado por HMM con entrenamiento incremental</a:t>
            </a:r>
          </a:p>
          <a:p>
            <a:pPr marL="514350" indent="-514350">
              <a:buFont typeface="+mj-lt"/>
              <a:buAutoNum type="arabicPeriod"/>
            </a:pPr>
            <a:r>
              <a:rPr lang="es-ES" dirty="0"/>
              <a:t>Etiquetado por TnT suavizado por sufijos</a:t>
            </a:r>
          </a:p>
          <a:p>
            <a:pPr marL="514350" indent="-514350">
              <a:buFont typeface="+mj-lt"/>
              <a:buAutoNum type="arabicPeriod"/>
            </a:pPr>
            <a:r>
              <a:rPr lang="es-ES" dirty="0"/>
              <a:t>Comparación con otros modelos</a:t>
            </a:r>
          </a:p>
          <a:p>
            <a:pPr marL="514350" indent="-514350">
              <a:buFont typeface="+mj-lt"/>
              <a:buAutoNum type="arabicPeriod"/>
            </a:pPr>
            <a:r>
              <a:rPr lang="es-ES" dirty="0"/>
              <a:t>Evaluación de la herramienta </a:t>
            </a:r>
            <a:r>
              <a:rPr lang="es-ES" i="1" dirty="0" err="1"/>
              <a:t>Spacy</a:t>
            </a:r>
            <a:endParaRPr lang="es-ES" dirty="0"/>
          </a:p>
        </p:txBody>
      </p:sp>
      <p:pic>
        <p:nvPicPr>
          <p:cNvPr id="5" name="Imagen 4">
            <a:extLst>
              <a:ext uri="{FF2B5EF4-FFF2-40B4-BE49-F238E27FC236}">
                <a16:creationId xmlns:a16="http://schemas.microsoft.com/office/drawing/2014/main" id="{EA051321-4485-B3C7-8D33-18D1B1C5DDB9}"/>
              </a:ext>
            </a:extLst>
          </p:cNvPr>
          <p:cNvPicPr>
            <a:picLocks noChangeAspect="1"/>
          </p:cNvPicPr>
          <p:nvPr/>
        </p:nvPicPr>
        <p:blipFill>
          <a:blip r:embed="rId3"/>
          <a:stretch>
            <a:fillRect/>
          </a:stretch>
        </p:blipFill>
        <p:spPr>
          <a:xfrm>
            <a:off x="766184" y="1233425"/>
            <a:ext cx="1672216" cy="135356"/>
          </a:xfrm>
          <a:prstGeom prst="rect">
            <a:avLst/>
          </a:prstGeom>
        </p:spPr>
      </p:pic>
      <p:pic>
        <p:nvPicPr>
          <p:cNvPr id="6" name="Imagen 5" descr="Imagen que contiene Texto&#10;&#10;Descripción generada automáticamente">
            <a:extLst>
              <a:ext uri="{FF2B5EF4-FFF2-40B4-BE49-F238E27FC236}">
                <a16:creationId xmlns:a16="http://schemas.microsoft.com/office/drawing/2014/main" id="{6CC3F3E9-18D9-8A8E-D7E2-C1D3F7F919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8" name="Imagen 7" descr="Logotipo&#10;&#10;Descripción generada automáticamente con confianza media">
            <a:extLst>
              <a:ext uri="{FF2B5EF4-FFF2-40B4-BE49-F238E27FC236}">
                <a16:creationId xmlns:a16="http://schemas.microsoft.com/office/drawing/2014/main" id="{CB37E6F4-4766-E90B-5894-15AFD5F471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spTree>
    <p:extLst>
      <p:ext uri="{BB962C8B-B14F-4D97-AF65-F5344CB8AC3E}">
        <p14:creationId xmlns:p14="http://schemas.microsoft.com/office/powerpoint/2010/main" val="2260113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descr="Gráfico, Gráfico de cajas y bigotes&#10;&#10;Descripción generada automáticamente">
            <a:extLst>
              <a:ext uri="{FF2B5EF4-FFF2-40B4-BE49-F238E27FC236}">
                <a16:creationId xmlns:a16="http://schemas.microsoft.com/office/drawing/2014/main" id="{E4F74E2C-73C1-7FE2-BF7A-9B62FAF424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73335" y="1848157"/>
            <a:ext cx="5245735" cy="3934301"/>
          </a:xfrm>
          <a:prstGeom prst="rect">
            <a:avLst/>
          </a:prstGeom>
        </p:spPr>
      </p:pic>
      <p:pic>
        <p:nvPicPr>
          <p:cNvPr id="10" name="Imagen 9">
            <a:extLst>
              <a:ext uri="{FF2B5EF4-FFF2-40B4-BE49-F238E27FC236}">
                <a16:creationId xmlns:a16="http://schemas.microsoft.com/office/drawing/2014/main" id="{7F77B804-8C7F-D969-8CB1-5C7A1E9552A7}"/>
              </a:ext>
            </a:extLst>
          </p:cNvPr>
          <p:cNvPicPr>
            <a:picLocks noChangeAspect="1"/>
          </p:cNvPicPr>
          <p:nvPr/>
        </p:nvPicPr>
        <p:blipFill>
          <a:blip r:embed="rId3"/>
          <a:stretch>
            <a:fillRect/>
          </a:stretch>
        </p:blipFill>
        <p:spPr>
          <a:xfrm>
            <a:off x="4274172" y="1748371"/>
            <a:ext cx="3639058" cy="485843"/>
          </a:xfrm>
          <a:prstGeom prst="rect">
            <a:avLst/>
          </a:prstGeom>
        </p:spPr>
      </p:pic>
      <p:sp>
        <p:nvSpPr>
          <p:cNvPr id="11" name="CuadroTexto 10">
            <a:extLst>
              <a:ext uri="{FF2B5EF4-FFF2-40B4-BE49-F238E27FC236}">
                <a16:creationId xmlns:a16="http://schemas.microsoft.com/office/drawing/2014/main" id="{7A5F558E-AF09-B76A-DBC7-A3EA1134CFC8}"/>
              </a:ext>
            </a:extLst>
          </p:cNvPr>
          <p:cNvSpPr txBox="1"/>
          <p:nvPr/>
        </p:nvSpPr>
        <p:spPr>
          <a:xfrm>
            <a:off x="2466410" y="5891115"/>
            <a:ext cx="1590675" cy="523220"/>
          </a:xfrm>
          <a:prstGeom prst="rect">
            <a:avLst/>
          </a:prstGeom>
          <a:noFill/>
        </p:spPr>
        <p:txBody>
          <a:bodyPr wrap="square" rtlCol="0">
            <a:spAutoFit/>
          </a:bodyPr>
          <a:lstStyle/>
          <a:p>
            <a:r>
              <a:rPr lang="es-ES" sz="2800" dirty="0"/>
              <a:t>|C| = 289</a:t>
            </a:r>
          </a:p>
        </p:txBody>
      </p:sp>
      <p:cxnSp>
        <p:nvCxnSpPr>
          <p:cNvPr id="14" name="Conector recto 13">
            <a:extLst>
              <a:ext uri="{FF2B5EF4-FFF2-40B4-BE49-F238E27FC236}">
                <a16:creationId xmlns:a16="http://schemas.microsoft.com/office/drawing/2014/main" id="{D71ACEE8-84C5-510F-A7E7-873F0AA8D042}"/>
              </a:ext>
            </a:extLst>
          </p:cNvPr>
          <p:cNvCxnSpPr>
            <a:stCxn id="10" idx="2"/>
          </p:cNvCxnSpPr>
          <p:nvPr/>
        </p:nvCxnSpPr>
        <p:spPr>
          <a:xfrm>
            <a:off x="6093701" y="2234214"/>
            <a:ext cx="0" cy="3823686"/>
          </a:xfrm>
          <a:prstGeom prst="line">
            <a:avLst/>
          </a:prstGeom>
          <a:ln w="19050"/>
        </p:spPr>
        <p:style>
          <a:lnRef idx="1">
            <a:schemeClr val="accent2"/>
          </a:lnRef>
          <a:fillRef idx="0">
            <a:schemeClr val="accent2"/>
          </a:fillRef>
          <a:effectRef idx="0">
            <a:schemeClr val="accent2"/>
          </a:effectRef>
          <a:fontRef idx="minor">
            <a:schemeClr val="tx1"/>
          </a:fontRef>
        </p:style>
      </p:cxnSp>
      <p:sp>
        <p:nvSpPr>
          <p:cNvPr id="16" name="CuadroTexto 15">
            <a:extLst>
              <a:ext uri="{FF2B5EF4-FFF2-40B4-BE49-F238E27FC236}">
                <a16:creationId xmlns:a16="http://schemas.microsoft.com/office/drawing/2014/main" id="{BE553774-D99A-E992-E3D9-E3B9484EF8D2}"/>
              </a:ext>
            </a:extLst>
          </p:cNvPr>
          <p:cNvSpPr txBox="1"/>
          <p:nvPr/>
        </p:nvSpPr>
        <p:spPr>
          <a:xfrm>
            <a:off x="8400866" y="5891115"/>
            <a:ext cx="1590675" cy="523220"/>
          </a:xfrm>
          <a:prstGeom prst="rect">
            <a:avLst/>
          </a:prstGeom>
          <a:noFill/>
        </p:spPr>
        <p:txBody>
          <a:bodyPr wrap="square" rtlCol="0">
            <a:spAutoFit/>
          </a:bodyPr>
          <a:lstStyle/>
          <a:p>
            <a:r>
              <a:rPr lang="es-ES" sz="2800" dirty="0"/>
              <a:t>|C| = 66</a:t>
            </a:r>
          </a:p>
        </p:txBody>
      </p:sp>
      <p:pic>
        <p:nvPicPr>
          <p:cNvPr id="6" name="Imagen 5" descr="Gráfico, Gráfico de cajas y bigotes&#10;&#10;Descripción generada automáticamente">
            <a:extLst>
              <a:ext uri="{FF2B5EF4-FFF2-40B4-BE49-F238E27FC236}">
                <a16:creationId xmlns:a16="http://schemas.microsoft.com/office/drawing/2014/main" id="{6C898EF6-D41A-8CEF-4A79-77F9C7C0F51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8881" y="1848156"/>
            <a:ext cx="5245735" cy="3934301"/>
          </a:xfrm>
          <a:prstGeom prst="rect">
            <a:avLst/>
          </a:prstGeom>
        </p:spPr>
      </p:pic>
      <p:sp>
        <p:nvSpPr>
          <p:cNvPr id="19" name="Título 1">
            <a:extLst>
              <a:ext uri="{FF2B5EF4-FFF2-40B4-BE49-F238E27FC236}">
                <a16:creationId xmlns:a16="http://schemas.microsoft.com/office/drawing/2014/main" id="{083B2867-7BCA-B9D0-E0FE-56E11983F17A}"/>
              </a:ext>
            </a:extLst>
          </p:cNvPr>
          <p:cNvSpPr>
            <a:spLocks noGrp="1"/>
          </p:cNvSpPr>
          <p:nvPr>
            <p:ph type="title"/>
          </p:nvPr>
        </p:nvSpPr>
        <p:spPr>
          <a:xfrm>
            <a:off x="838200" y="365125"/>
            <a:ext cx="10515600" cy="1325563"/>
          </a:xfrm>
        </p:spPr>
        <p:txBody>
          <a:bodyPr/>
          <a:lstStyle/>
          <a:p>
            <a:r>
              <a:rPr lang="es-ES" dirty="0"/>
              <a:t>HMM con variación del número de etiquetas</a:t>
            </a:r>
          </a:p>
        </p:txBody>
      </p:sp>
      <p:pic>
        <p:nvPicPr>
          <p:cNvPr id="21" name="Imagen 20">
            <a:extLst>
              <a:ext uri="{FF2B5EF4-FFF2-40B4-BE49-F238E27FC236}">
                <a16:creationId xmlns:a16="http://schemas.microsoft.com/office/drawing/2014/main" id="{41F49654-E591-FCB7-C972-BD5931C45E6E}"/>
              </a:ext>
            </a:extLst>
          </p:cNvPr>
          <p:cNvPicPr>
            <a:picLocks noChangeAspect="1"/>
          </p:cNvPicPr>
          <p:nvPr/>
        </p:nvPicPr>
        <p:blipFill>
          <a:blip r:embed="rId5"/>
          <a:stretch>
            <a:fillRect/>
          </a:stretch>
        </p:blipFill>
        <p:spPr>
          <a:xfrm>
            <a:off x="766184" y="1233425"/>
            <a:ext cx="1672216" cy="135356"/>
          </a:xfrm>
          <a:prstGeom prst="rect">
            <a:avLst/>
          </a:prstGeom>
        </p:spPr>
      </p:pic>
      <p:pic>
        <p:nvPicPr>
          <p:cNvPr id="29" name="Imagen 28" descr="Imagen que contiene Texto&#10;&#10;Descripción generada automáticamente">
            <a:extLst>
              <a:ext uri="{FF2B5EF4-FFF2-40B4-BE49-F238E27FC236}">
                <a16:creationId xmlns:a16="http://schemas.microsoft.com/office/drawing/2014/main" id="{1EA5BAB0-849B-6367-9BD0-563F6ADCEC4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31" name="Imagen 30" descr="Logotipo&#10;&#10;Descripción generada automáticamente con confianza media">
            <a:extLst>
              <a:ext uri="{FF2B5EF4-FFF2-40B4-BE49-F238E27FC236}">
                <a16:creationId xmlns:a16="http://schemas.microsoft.com/office/drawing/2014/main" id="{B59C8139-F452-200D-294C-9B29EDAFEDF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spTree>
    <p:extLst>
      <p:ext uri="{BB962C8B-B14F-4D97-AF65-F5344CB8AC3E}">
        <p14:creationId xmlns:p14="http://schemas.microsoft.com/office/powerpoint/2010/main" val="24985016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7F77B804-8C7F-D969-8CB1-5C7A1E9552A7}"/>
              </a:ext>
            </a:extLst>
          </p:cNvPr>
          <p:cNvPicPr>
            <a:picLocks noChangeAspect="1"/>
          </p:cNvPicPr>
          <p:nvPr/>
        </p:nvPicPr>
        <p:blipFill>
          <a:blip r:embed="rId3"/>
          <a:stretch>
            <a:fillRect/>
          </a:stretch>
        </p:blipFill>
        <p:spPr>
          <a:xfrm>
            <a:off x="4274172" y="1748371"/>
            <a:ext cx="3639058" cy="485843"/>
          </a:xfrm>
          <a:prstGeom prst="rect">
            <a:avLst/>
          </a:prstGeom>
        </p:spPr>
      </p:pic>
      <p:sp>
        <p:nvSpPr>
          <p:cNvPr id="19" name="Título 1">
            <a:extLst>
              <a:ext uri="{FF2B5EF4-FFF2-40B4-BE49-F238E27FC236}">
                <a16:creationId xmlns:a16="http://schemas.microsoft.com/office/drawing/2014/main" id="{083B2867-7BCA-B9D0-E0FE-56E11983F17A}"/>
              </a:ext>
            </a:extLst>
          </p:cNvPr>
          <p:cNvSpPr>
            <a:spLocks noGrp="1"/>
          </p:cNvSpPr>
          <p:nvPr>
            <p:ph type="title"/>
          </p:nvPr>
        </p:nvSpPr>
        <p:spPr>
          <a:xfrm>
            <a:off x="838200" y="365125"/>
            <a:ext cx="10515600" cy="1325563"/>
          </a:xfrm>
        </p:spPr>
        <p:txBody>
          <a:bodyPr/>
          <a:lstStyle/>
          <a:p>
            <a:r>
              <a:rPr lang="es-ES"/>
              <a:t>HMM con entrenamiento incremental</a:t>
            </a:r>
            <a:endParaRPr lang="es-ES" dirty="0"/>
          </a:p>
        </p:txBody>
      </p:sp>
      <p:pic>
        <p:nvPicPr>
          <p:cNvPr id="21" name="Imagen 20">
            <a:extLst>
              <a:ext uri="{FF2B5EF4-FFF2-40B4-BE49-F238E27FC236}">
                <a16:creationId xmlns:a16="http://schemas.microsoft.com/office/drawing/2014/main" id="{41F49654-E591-FCB7-C972-BD5931C45E6E}"/>
              </a:ext>
            </a:extLst>
          </p:cNvPr>
          <p:cNvPicPr>
            <a:picLocks noChangeAspect="1"/>
          </p:cNvPicPr>
          <p:nvPr/>
        </p:nvPicPr>
        <p:blipFill>
          <a:blip r:embed="rId4"/>
          <a:stretch>
            <a:fillRect/>
          </a:stretch>
        </p:blipFill>
        <p:spPr>
          <a:xfrm>
            <a:off x="766184" y="1233425"/>
            <a:ext cx="1672216" cy="135356"/>
          </a:xfrm>
          <a:prstGeom prst="rect">
            <a:avLst/>
          </a:prstGeom>
        </p:spPr>
      </p:pic>
      <p:pic>
        <p:nvPicPr>
          <p:cNvPr id="3" name="Imagen 2" descr="Gráfico, Gráfico de dispersión&#10;&#10;Descripción generada automáticamente">
            <a:extLst>
              <a:ext uri="{FF2B5EF4-FFF2-40B4-BE49-F238E27FC236}">
                <a16:creationId xmlns:a16="http://schemas.microsoft.com/office/drawing/2014/main" id="{96D4032D-E4B6-8253-FF2D-C89D7A13D4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67615" y="1748371"/>
            <a:ext cx="5852172" cy="4389129"/>
          </a:xfrm>
          <a:prstGeom prst="rect">
            <a:avLst/>
          </a:prstGeom>
        </p:spPr>
      </p:pic>
      <p:pic>
        <p:nvPicPr>
          <p:cNvPr id="4" name="Imagen 3" descr="Imagen que contiene Texto&#10;&#10;Descripción generada automáticamente">
            <a:extLst>
              <a:ext uri="{FF2B5EF4-FFF2-40B4-BE49-F238E27FC236}">
                <a16:creationId xmlns:a16="http://schemas.microsoft.com/office/drawing/2014/main" id="{69DFAEB5-FD89-5B72-2C9D-F3830996F0A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5" name="Imagen 4" descr="Logotipo&#10;&#10;Descripción generada automáticamente con confianza media">
            <a:extLst>
              <a:ext uri="{FF2B5EF4-FFF2-40B4-BE49-F238E27FC236}">
                <a16:creationId xmlns:a16="http://schemas.microsoft.com/office/drawing/2014/main" id="{16E56858-4F01-93BB-8378-2D3A9BD187C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spTree>
    <p:extLst>
      <p:ext uri="{BB962C8B-B14F-4D97-AF65-F5344CB8AC3E}">
        <p14:creationId xmlns:p14="http://schemas.microsoft.com/office/powerpoint/2010/main" val="2702777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7F77B804-8C7F-D969-8CB1-5C7A1E9552A7}"/>
              </a:ext>
            </a:extLst>
          </p:cNvPr>
          <p:cNvPicPr>
            <a:picLocks noChangeAspect="1"/>
          </p:cNvPicPr>
          <p:nvPr/>
        </p:nvPicPr>
        <p:blipFill>
          <a:blip r:embed="rId2"/>
          <a:stretch>
            <a:fillRect/>
          </a:stretch>
        </p:blipFill>
        <p:spPr>
          <a:xfrm>
            <a:off x="4274172" y="1748371"/>
            <a:ext cx="3639058" cy="485843"/>
          </a:xfrm>
          <a:prstGeom prst="rect">
            <a:avLst/>
          </a:prstGeom>
        </p:spPr>
      </p:pic>
      <p:sp>
        <p:nvSpPr>
          <p:cNvPr id="19" name="Título 1">
            <a:extLst>
              <a:ext uri="{FF2B5EF4-FFF2-40B4-BE49-F238E27FC236}">
                <a16:creationId xmlns:a16="http://schemas.microsoft.com/office/drawing/2014/main" id="{083B2867-7BCA-B9D0-E0FE-56E11983F17A}"/>
              </a:ext>
            </a:extLst>
          </p:cNvPr>
          <p:cNvSpPr>
            <a:spLocks noGrp="1"/>
          </p:cNvSpPr>
          <p:nvPr>
            <p:ph type="title"/>
          </p:nvPr>
        </p:nvSpPr>
        <p:spPr>
          <a:xfrm>
            <a:off x="838200" y="365125"/>
            <a:ext cx="10515600" cy="1325563"/>
          </a:xfrm>
        </p:spPr>
        <p:txBody>
          <a:bodyPr/>
          <a:lstStyle/>
          <a:p>
            <a:r>
              <a:rPr lang="es-ES" sz="4400" kern="1200" dirty="0">
                <a:solidFill>
                  <a:srgbClr val="000000"/>
                </a:solidFill>
                <a:effectLst/>
                <a:latin typeface="Calibri Light" panose="020F0302020204030204" pitchFamily="34" charset="0"/>
                <a:ea typeface="+mj-ea"/>
                <a:cs typeface="+mj-cs"/>
              </a:rPr>
              <a:t>TnT sin suavizado</a:t>
            </a:r>
            <a:endParaRPr lang="es-ES" dirty="0"/>
          </a:p>
        </p:txBody>
      </p:sp>
      <p:pic>
        <p:nvPicPr>
          <p:cNvPr id="21" name="Imagen 20">
            <a:extLst>
              <a:ext uri="{FF2B5EF4-FFF2-40B4-BE49-F238E27FC236}">
                <a16:creationId xmlns:a16="http://schemas.microsoft.com/office/drawing/2014/main" id="{41F49654-E591-FCB7-C972-BD5931C45E6E}"/>
              </a:ext>
            </a:extLst>
          </p:cNvPr>
          <p:cNvPicPr>
            <a:picLocks noChangeAspect="1"/>
          </p:cNvPicPr>
          <p:nvPr/>
        </p:nvPicPr>
        <p:blipFill>
          <a:blip r:embed="rId3"/>
          <a:stretch>
            <a:fillRect/>
          </a:stretch>
        </p:blipFill>
        <p:spPr>
          <a:xfrm>
            <a:off x="846086" y="1215669"/>
            <a:ext cx="994143" cy="80470"/>
          </a:xfrm>
          <a:prstGeom prst="rect">
            <a:avLst/>
          </a:prstGeom>
        </p:spPr>
      </p:pic>
      <p:pic>
        <p:nvPicPr>
          <p:cNvPr id="3" name="Imagen 2">
            <a:extLst>
              <a:ext uri="{FF2B5EF4-FFF2-40B4-BE49-F238E27FC236}">
                <a16:creationId xmlns:a16="http://schemas.microsoft.com/office/drawing/2014/main" id="{96D4032D-E4B6-8253-FF2D-C89D7A13D475}"/>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171674" y="1748371"/>
            <a:ext cx="5844054" cy="4389129"/>
          </a:xfrm>
          <a:prstGeom prst="rect">
            <a:avLst/>
          </a:prstGeom>
        </p:spPr>
      </p:pic>
      <p:pic>
        <p:nvPicPr>
          <p:cNvPr id="4" name="Imagen 3" descr="Imagen que contiene Texto&#10;&#10;Descripción generada automáticamente">
            <a:extLst>
              <a:ext uri="{FF2B5EF4-FFF2-40B4-BE49-F238E27FC236}">
                <a16:creationId xmlns:a16="http://schemas.microsoft.com/office/drawing/2014/main" id="{69DFAEB5-FD89-5B72-2C9D-F3830996F0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5" name="Imagen 4" descr="Logotipo&#10;&#10;Descripción generada automáticamente con confianza media">
            <a:extLst>
              <a:ext uri="{FF2B5EF4-FFF2-40B4-BE49-F238E27FC236}">
                <a16:creationId xmlns:a16="http://schemas.microsoft.com/office/drawing/2014/main" id="{16E56858-4F01-93BB-8378-2D3A9BD187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spTree>
    <p:extLst>
      <p:ext uri="{BB962C8B-B14F-4D97-AF65-F5344CB8AC3E}">
        <p14:creationId xmlns:p14="http://schemas.microsoft.com/office/powerpoint/2010/main" val="1520105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7F77B804-8C7F-D969-8CB1-5C7A1E9552A7}"/>
              </a:ext>
            </a:extLst>
          </p:cNvPr>
          <p:cNvPicPr>
            <a:picLocks noChangeAspect="1"/>
          </p:cNvPicPr>
          <p:nvPr/>
        </p:nvPicPr>
        <p:blipFill>
          <a:blip r:embed="rId2"/>
          <a:stretch>
            <a:fillRect/>
          </a:stretch>
        </p:blipFill>
        <p:spPr>
          <a:xfrm>
            <a:off x="4274172" y="1748371"/>
            <a:ext cx="3639058" cy="485843"/>
          </a:xfrm>
          <a:prstGeom prst="rect">
            <a:avLst/>
          </a:prstGeom>
        </p:spPr>
      </p:pic>
      <p:sp>
        <p:nvSpPr>
          <p:cNvPr id="19" name="Título 1">
            <a:extLst>
              <a:ext uri="{FF2B5EF4-FFF2-40B4-BE49-F238E27FC236}">
                <a16:creationId xmlns:a16="http://schemas.microsoft.com/office/drawing/2014/main" id="{083B2867-7BCA-B9D0-E0FE-56E11983F17A}"/>
              </a:ext>
            </a:extLst>
          </p:cNvPr>
          <p:cNvSpPr>
            <a:spLocks noGrp="1"/>
          </p:cNvSpPr>
          <p:nvPr>
            <p:ph type="title"/>
          </p:nvPr>
        </p:nvSpPr>
        <p:spPr>
          <a:xfrm>
            <a:off x="838200" y="365125"/>
            <a:ext cx="10515600" cy="1325563"/>
          </a:xfrm>
        </p:spPr>
        <p:txBody>
          <a:bodyPr/>
          <a:lstStyle/>
          <a:p>
            <a:r>
              <a:rPr lang="es-ES" sz="4400" kern="1200" dirty="0">
                <a:solidFill>
                  <a:srgbClr val="000000"/>
                </a:solidFill>
                <a:effectLst/>
                <a:latin typeface="Calibri Light" panose="020F0302020204030204" pitchFamily="34" charset="0"/>
                <a:ea typeface="+mj-ea"/>
                <a:cs typeface="+mj-cs"/>
              </a:rPr>
              <a:t>TnT con suavizado por sufijos</a:t>
            </a:r>
            <a:endParaRPr lang="es-ES" dirty="0"/>
          </a:p>
        </p:txBody>
      </p:sp>
      <p:pic>
        <p:nvPicPr>
          <p:cNvPr id="21" name="Imagen 20">
            <a:extLst>
              <a:ext uri="{FF2B5EF4-FFF2-40B4-BE49-F238E27FC236}">
                <a16:creationId xmlns:a16="http://schemas.microsoft.com/office/drawing/2014/main" id="{41F49654-E591-FCB7-C972-BD5931C45E6E}"/>
              </a:ext>
            </a:extLst>
          </p:cNvPr>
          <p:cNvPicPr>
            <a:picLocks noChangeAspect="1"/>
          </p:cNvPicPr>
          <p:nvPr/>
        </p:nvPicPr>
        <p:blipFill>
          <a:blip r:embed="rId3"/>
          <a:stretch>
            <a:fillRect/>
          </a:stretch>
        </p:blipFill>
        <p:spPr>
          <a:xfrm>
            <a:off x="846086" y="1215669"/>
            <a:ext cx="994143" cy="80470"/>
          </a:xfrm>
          <a:prstGeom prst="rect">
            <a:avLst/>
          </a:prstGeom>
        </p:spPr>
      </p:pic>
      <p:pic>
        <p:nvPicPr>
          <p:cNvPr id="4" name="Imagen 3" descr="Imagen que contiene Texto&#10;&#10;Descripción generada automáticamente">
            <a:extLst>
              <a:ext uri="{FF2B5EF4-FFF2-40B4-BE49-F238E27FC236}">
                <a16:creationId xmlns:a16="http://schemas.microsoft.com/office/drawing/2014/main" id="{69DFAEB5-FD89-5B72-2C9D-F3830996F0A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5" name="Imagen 4" descr="Logotipo&#10;&#10;Descripción generada automáticamente con confianza media">
            <a:extLst>
              <a:ext uri="{FF2B5EF4-FFF2-40B4-BE49-F238E27FC236}">
                <a16:creationId xmlns:a16="http://schemas.microsoft.com/office/drawing/2014/main" id="{16E56858-4F01-93BB-8378-2D3A9BD187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pic>
        <p:nvPicPr>
          <p:cNvPr id="17" name="Imagen 16" descr="Gráfico, Gráfico de cajas y bigotes&#10;&#10;Descripción generada automáticamente">
            <a:extLst>
              <a:ext uri="{FF2B5EF4-FFF2-40B4-BE49-F238E27FC236}">
                <a16:creationId xmlns:a16="http://schemas.microsoft.com/office/drawing/2014/main" id="{61C7795A-7930-3C09-8768-6BA230E1B0B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717" y="2234214"/>
            <a:ext cx="4134598" cy="3100949"/>
          </a:xfrm>
          <a:prstGeom prst="rect">
            <a:avLst/>
          </a:prstGeom>
        </p:spPr>
      </p:pic>
      <p:pic>
        <p:nvPicPr>
          <p:cNvPr id="20" name="Imagen 19" descr="Gráfico, Gráfico de cajas y bigotes&#10;&#10;Descripción generada automáticamente">
            <a:extLst>
              <a:ext uri="{FF2B5EF4-FFF2-40B4-BE49-F238E27FC236}">
                <a16:creationId xmlns:a16="http://schemas.microsoft.com/office/drawing/2014/main" id="{4D4DB623-2A59-1203-D00E-F0C8AA0A933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097623" y="2234214"/>
            <a:ext cx="4134600" cy="3100950"/>
          </a:xfrm>
          <a:prstGeom prst="rect">
            <a:avLst/>
          </a:prstGeom>
        </p:spPr>
      </p:pic>
      <p:pic>
        <p:nvPicPr>
          <p:cNvPr id="23" name="Imagen 22" descr="Gráfico, Gráfico de cajas y bigotes&#10;&#10;Descripción generada automáticamente">
            <a:extLst>
              <a:ext uri="{FF2B5EF4-FFF2-40B4-BE49-F238E27FC236}">
                <a16:creationId xmlns:a16="http://schemas.microsoft.com/office/drawing/2014/main" id="{13619E61-1FA1-5AF4-EB45-D6D739AB5C7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057402" y="2234214"/>
            <a:ext cx="4134598" cy="3100949"/>
          </a:xfrm>
          <a:prstGeom prst="rect">
            <a:avLst/>
          </a:prstGeom>
        </p:spPr>
      </p:pic>
    </p:spTree>
    <p:extLst>
      <p:ext uri="{BB962C8B-B14F-4D97-AF65-F5344CB8AC3E}">
        <p14:creationId xmlns:p14="http://schemas.microsoft.com/office/powerpoint/2010/main" val="2810113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7F77B804-8C7F-D969-8CB1-5C7A1E9552A7}"/>
              </a:ext>
            </a:extLst>
          </p:cNvPr>
          <p:cNvPicPr>
            <a:picLocks noChangeAspect="1"/>
          </p:cNvPicPr>
          <p:nvPr/>
        </p:nvPicPr>
        <p:blipFill>
          <a:blip r:embed="rId3"/>
          <a:stretch>
            <a:fillRect/>
          </a:stretch>
        </p:blipFill>
        <p:spPr>
          <a:xfrm>
            <a:off x="4274172" y="1748371"/>
            <a:ext cx="3639058" cy="485843"/>
          </a:xfrm>
          <a:prstGeom prst="rect">
            <a:avLst/>
          </a:prstGeom>
        </p:spPr>
      </p:pic>
      <p:sp>
        <p:nvSpPr>
          <p:cNvPr id="19" name="Título 1">
            <a:extLst>
              <a:ext uri="{FF2B5EF4-FFF2-40B4-BE49-F238E27FC236}">
                <a16:creationId xmlns:a16="http://schemas.microsoft.com/office/drawing/2014/main" id="{083B2867-7BCA-B9D0-E0FE-56E11983F17A}"/>
              </a:ext>
            </a:extLst>
          </p:cNvPr>
          <p:cNvSpPr>
            <a:spLocks noGrp="1"/>
          </p:cNvSpPr>
          <p:nvPr>
            <p:ph type="title"/>
          </p:nvPr>
        </p:nvSpPr>
        <p:spPr>
          <a:xfrm>
            <a:off x="838200" y="365125"/>
            <a:ext cx="10515600" cy="1325563"/>
          </a:xfrm>
        </p:spPr>
        <p:txBody>
          <a:bodyPr/>
          <a:lstStyle/>
          <a:p>
            <a:r>
              <a:rPr lang="es-ES" sz="4400" kern="1200" dirty="0">
                <a:solidFill>
                  <a:srgbClr val="000000"/>
                </a:solidFill>
                <a:effectLst/>
                <a:latin typeface="Calibri Light" panose="020F0302020204030204" pitchFamily="34" charset="0"/>
                <a:ea typeface="+mj-ea"/>
                <a:cs typeface="+mj-cs"/>
              </a:rPr>
              <a:t>Evaluación de otros modelos</a:t>
            </a:r>
            <a:endParaRPr lang="es-ES" dirty="0"/>
          </a:p>
        </p:txBody>
      </p:sp>
      <p:pic>
        <p:nvPicPr>
          <p:cNvPr id="21" name="Imagen 20">
            <a:extLst>
              <a:ext uri="{FF2B5EF4-FFF2-40B4-BE49-F238E27FC236}">
                <a16:creationId xmlns:a16="http://schemas.microsoft.com/office/drawing/2014/main" id="{41F49654-E591-FCB7-C972-BD5931C45E6E}"/>
              </a:ext>
            </a:extLst>
          </p:cNvPr>
          <p:cNvPicPr>
            <a:picLocks noChangeAspect="1"/>
          </p:cNvPicPr>
          <p:nvPr/>
        </p:nvPicPr>
        <p:blipFill>
          <a:blip r:embed="rId4"/>
          <a:stretch>
            <a:fillRect/>
          </a:stretch>
        </p:blipFill>
        <p:spPr>
          <a:xfrm>
            <a:off x="846086" y="1215669"/>
            <a:ext cx="994143" cy="80470"/>
          </a:xfrm>
          <a:prstGeom prst="rect">
            <a:avLst/>
          </a:prstGeom>
        </p:spPr>
      </p:pic>
      <p:pic>
        <p:nvPicPr>
          <p:cNvPr id="4" name="Imagen 3" descr="Imagen que contiene Texto&#10;&#10;Descripción generada automáticamente">
            <a:extLst>
              <a:ext uri="{FF2B5EF4-FFF2-40B4-BE49-F238E27FC236}">
                <a16:creationId xmlns:a16="http://schemas.microsoft.com/office/drawing/2014/main" id="{69DFAEB5-FD89-5B72-2C9D-F3830996F0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5" name="Imagen 4" descr="Logotipo&#10;&#10;Descripción generada automáticamente con confianza media">
            <a:extLst>
              <a:ext uri="{FF2B5EF4-FFF2-40B4-BE49-F238E27FC236}">
                <a16:creationId xmlns:a16="http://schemas.microsoft.com/office/drawing/2014/main" id="{16E56858-4F01-93BB-8378-2D3A9BD187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pic>
        <p:nvPicPr>
          <p:cNvPr id="6" name="Imagen 5">
            <a:extLst>
              <a:ext uri="{FF2B5EF4-FFF2-40B4-BE49-F238E27FC236}">
                <a16:creationId xmlns:a16="http://schemas.microsoft.com/office/drawing/2014/main" id="{1FF9EEB1-B063-5251-3117-354044FA5201}"/>
              </a:ext>
            </a:extLst>
          </p:cNvPr>
          <p:cNvPicPr>
            <a:picLocks noChangeAspect="1"/>
          </p:cNvPicPr>
          <p:nvPr/>
        </p:nvPicPr>
        <p:blipFill>
          <a:blip r:embed="rId7"/>
          <a:stretch>
            <a:fillRect/>
          </a:stretch>
        </p:blipFill>
        <p:spPr>
          <a:xfrm>
            <a:off x="1690072" y="1799997"/>
            <a:ext cx="8811855" cy="3258005"/>
          </a:xfrm>
          <a:prstGeom prst="rect">
            <a:avLst/>
          </a:prstGeom>
        </p:spPr>
      </p:pic>
      <p:sp>
        <p:nvSpPr>
          <p:cNvPr id="8" name="Estrella: 5 puntas 7">
            <a:extLst>
              <a:ext uri="{FF2B5EF4-FFF2-40B4-BE49-F238E27FC236}">
                <a16:creationId xmlns:a16="http://schemas.microsoft.com/office/drawing/2014/main" id="{85E7D39B-D9A7-0177-B0AD-84B98E65DB56}"/>
              </a:ext>
            </a:extLst>
          </p:cNvPr>
          <p:cNvSpPr/>
          <p:nvPr/>
        </p:nvSpPr>
        <p:spPr>
          <a:xfrm>
            <a:off x="1775719" y="3915051"/>
            <a:ext cx="168676" cy="150920"/>
          </a:xfrm>
          <a:prstGeom prst="star5">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s-ES"/>
          </a:p>
        </p:txBody>
      </p:sp>
      <p:sp>
        <p:nvSpPr>
          <p:cNvPr id="9" name="Rectángulo 8">
            <a:extLst>
              <a:ext uri="{FF2B5EF4-FFF2-40B4-BE49-F238E27FC236}">
                <a16:creationId xmlns:a16="http://schemas.microsoft.com/office/drawing/2014/main" id="{41DA310F-5888-F857-47D3-E81283FFF6C7}"/>
              </a:ext>
            </a:extLst>
          </p:cNvPr>
          <p:cNvSpPr/>
          <p:nvPr/>
        </p:nvSpPr>
        <p:spPr>
          <a:xfrm>
            <a:off x="1882250" y="4429957"/>
            <a:ext cx="8101122" cy="292963"/>
          </a:xfrm>
          <a:prstGeom prst="rect">
            <a:avLst/>
          </a:prstGeom>
          <a:noFill/>
          <a:ln w="19050"/>
        </p:spPr>
        <p:style>
          <a:lnRef idx="2">
            <a:schemeClr val="accent2"/>
          </a:lnRef>
          <a:fillRef idx="1">
            <a:schemeClr val="lt1"/>
          </a:fillRef>
          <a:effectRef idx="0">
            <a:schemeClr val="accent2"/>
          </a:effectRef>
          <a:fontRef idx="minor">
            <a:schemeClr val="dk1"/>
          </a:fontRef>
        </p:style>
        <p:txBody>
          <a:bodyPr rtlCol="0" anchor="ctr"/>
          <a:lstStyle/>
          <a:p>
            <a:pPr algn="ctr"/>
            <a:endParaRPr lang="es-ES"/>
          </a:p>
        </p:txBody>
      </p:sp>
    </p:spTree>
    <p:extLst>
      <p:ext uri="{BB962C8B-B14F-4D97-AF65-F5344CB8AC3E}">
        <p14:creationId xmlns:p14="http://schemas.microsoft.com/office/powerpoint/2010/main" val="4072874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ítulo 1">
            <a:extLst>
              <a:ext uri="{FF2B5EF4-FFF2-40B4-BE49-F238E27FC236}">
                <a16:creationId xmlns:a16="http://schemas.microsoft.com/office/drawing/2014/main" id="{083B2867-7BCA-B9D0-E0FE-56E11983F17A}"/>
              </a:ext>
            </a:extLst>
          </p:cNvPr>
          <p:cNvSpPr>
            <a:spLocks noGrp="1"/>
          </p:cNvSpPr>
          <p:nvPr>
            <p:ph type="title"/>
          </p:nvPr>
        </p:nvSpPr>
        <p:spPr>
          <a:xfrm>
            <a:off x="838200" y="365125"/>
            <a:ext cx="10515600" cy="1325563"/>
          </a:xfrm>
        </p:spPr>
        <p:txBody>
          <a:bodyPr/>
          <a:lstStyle/>
          <a:p>
            <a:r>
              <a:rPr lang="es-ES" sz="4400" kern="1200" dirty="0">
                <a:solidFill>
                  <a:srgbClr val="000000"/>
                </a:solidFill>
                <a:effectLst/>
                <a:latin typeface="Calibri Light" panose="020F0302020204030204" pitchFamily="34" charset="0"/>
                <a:ea typeface="+mj-ea"/>
                <a:cs typeface="+mj-cs"/>
              </a:rPr>
              <a:t>Evaluación de otros modelos</a:t>
            </a:r>
            <a:endParaRPr lang="es-ES" dirty="0"/>
          </a:p>
        </p:txBody>
      </p:sp>
      <p:pic>
        <p:nvPicPr>
          <p:cNvPr id="4" name="Imagen 3" descr="Imagen que contiene Texto&#10;&#10;Descripción generada automáticamente">
            <a:extLst>
              <a:ext uri="{FF2B5EF4-FFF2-40B4-BE49-F238E27FC236}">
                <a16:creationId xmlns:a16="http://schemas.microsoft.com/office/drawing/2014/main" id="{69DFAEB5-FD89-5B72-2C9D-F3830996F0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5" name="Imagen 4" descr="Logotipo&#10;&#10;Descripción generada automáticamente con confianza media">
            <a:extLst>
              <a:ext uri="{FF2B5EF4-FFF2-40B4-BE49-F238E27FC236}">
                <a16:creationId xmlns:a16="http://schemas.microsoft.com/office/drawing/2014/main" id="{16E56858-4F01-93BB-8378-2D3A9BD187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sp>
        <p:nvSpPr>
          <p:cNvPr id="3" name="CuadroTexto 2">
            <a:extLst>
              <a:ext uri="{FF2B5EF4-FFF2-40B4-BE49-F238E27FC236}">
                <a16:creationId xmlns:a16="http://schemas.microsoft.com/office/drawing/2014/main" id="{FEC0FFC0-ACC6-CF33-1FAA-F5063D4153F1}"/>
              </a:ext>
            </a:extLst>
          </p:cNvPr>
          <p:cNvSpPr txBox="1"/>
          <p:nvPr/>
        </p:nvSpPr>
        <p:spPr>
          <a:xfrm>
            <a:off x="5372944" y="3929737"/>
            <a:ext cx="5492584" cy="707886"/>
          </a:xfrm>
          <a:prstGeom prst="rect">
            <a:avLst/>
          </a:prstGeom>
          <a:noFill/>
        </p:spPr>
        <p:txBody>
          <a:bodyPr wrap="square">
            <a:spAutoFit/>
          </a:bodyPr>
          <a:lstStyle/>
          <a:p>
            <a:r>
              <a:rPr lang="es-ES" sz="4000" dirty="0"/>
              <a:t>de oro el agua nos lleva …</a:t>
            </a:r>
          </a:p>
        </p:txBody>
      </p:sp>
      <p:sp>
        <p:nvSpPr>
          <p:cNvPr id="17" name="CuadroTexto 16">
            <a:extLst>
              <a:ext uri="{FF2B5EF4-FFF2-40B4-BE49-F238E27FC236}">
                <a16:creationId xmlns:a16="http://schemas.microsoft.com/office/drawing/2014/main" id="{82905928-B8E5-2CCB-9021-5141EC0018F1}"/>
              </a:ext>
            </a:extLst>
          </p:cNvPr>
          <p:cNvSpPr txBox="1"/>
          <p:nvPr/>
        </p:nvSpPr>
        <p:spPr>
          <a:xfrm>
            <a:off x="5372944" y="2789049"/>
            <a:ext cx="707994" cy="369332"/>
          </a:xfrm>
          <a:prstGeom prst="rect">
            <a:avLst/>
          </a:prstGeom>
          <a:noFill/>
        </p:spPr>
        <p:txBody>
          <a:bodyPr wrap="square">
            <a:spAutoFit/>
          </a:bodyPr>
          <a:lstStyle/>
          <a:p>
            <a:r>
              <a:rPr lang="es-ES" dirty="0">
                <a:solidFill>
                  <a:schemeClr val="accent1">
                    <a:lumMod val="75000"/>
                  </a:schemeClr>
                </a:solidFill>
              </a:rPr>
              <a:t>ADP</a:t>
            </a:r>
          </a:p>
        </p:txBody>
      </p:sp>
      <p:cxnSp>
        <p:nvCxnSpPr>
          <p:cNvPr id="15" name="Conector recto 14">
            <a:extLst>
              <a:ext uri="{FF2B5EF4-FFF2-40B4-BE49-F238E27FC236}">
                <a16:creationId xmlns:a16="http://schemas.microsoft.com/office/drawing/2014/main" id="{6FD633DC-68F8-0EAD-9A3D-918EC0DEF393}"/>
              </a:ext>
            </a:extLst>
          </p:cNvPr>
          <p:cNvCxnSpPr/>
          <p:nvPr/>
        </p:nvCxnSpPr>
        <p:spPr>
          <a:xfrm>
            <a:off x="5451365" y="2842904"/>
            <a:ext cx="433526"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8" name="Conector recto 17">
            <a:extLst>
              <a:ext uri="{FF2B5EF4-FFF2-40B4-BE49-F238E27FC236}">
                <a16:creationId xmlns:a16="http://schemas.microsoft.com/office/drawing/2014/main" id="{0564B318-1803-859C-B9FB-973911CB1189}"/>
              </a:ext>
            </a:extLst>
          </p:cNvPr>
          <p:cNvCxnSpPr>
            <a:cxnSpLocks/>
          </p:cNvCxnSpPr>
          <p:nvPr/>
        </p:nvCxnSpPr>
        <p:spPr>
          <a:xfrm>
            <a:off x="5949994" y="2842904"/>
            <a:ext cx="1205884"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2" name="CuadroTexto 21">
            <a:extLst>
              <a:ext uri="{FF2B5EF4-FFF2-40B4-BE49-F238E27FC236}">
                <a16:creationId xmlns:a16="http://schemas.microsoft.com/office/drawing/2014/main" id="{D4A88C6E-7264-65B2-750D-FC16813ACC8A}"/>
              </a:ext>
            </a:extLst>
          </p:cNvPr>
          <p:cNvSpPr txBox="1"/>
          <p:nvPr/>
        </p:nvSpPr>
        <p:spPr>
          <a:xfrm>
            <a:off x="6080938" y="2789049"/>
            <a:ext cx="832651" cy="369332"/>
          </a:xfrm>
          <a:prstGeom prst="rect">
            <a:avLst/>
          </a:prstGeom>
          <a:noFill/>
        </p:spPr>
        <p:txBody>
          <a:bodyPr wrap="square">
            <a:spAutoFit/>
          </a:bodyPr>
          <a:lstStyle/>
          <a:p>
            <a:r>
              <a:rPr lang="es-ES" dirty="0">
                <a:solidFill>
                  <a:schemeClr val="accent4">
                    <a:lumMod val="60000"/>
                    <a:lumOff val="40000"/>
                  </a:schemeClr>
                </a:solidFill>
              </a:rPr>
              <a:t>NOUN</a:t>
            </a:r>
          </a:p>
        </p:txBody>
      </p:sp>
      <p:cxnSp>
        <p:nvCxnSpPr>
          <p:cNvPr id="23" name="Conector recto 22">
            <a:extLst>
              <a:ext uri="{FF2B5EF4-FFF2-40B4-BE49-F238E27FC236}">
                <a16:creationId xmlns:a16="http://schemas.microsoft.com/office/drawing/2014/main" id="{167EB333-EA34-26AD-4521-74F68F1E9E0B}"/>
              </a:ext>
            </a:extLst>
          </p:cNvPr>
          <p:cNvCxnSpPr>
            <a:cxnSpLocks/>
          </p:cNvCxnSpPr>
          <p:nvPr/>
        </p:nvCxnSpPr>
        <p:spPr>
          <a:xfrm>
            <a:off x="8416507" y="2842904"/>
            <a:ext cx="1056442"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4" name="CuadroTexto 23">
            <a:extLst>
              <a:ext uri="{FF2B5EF4-FFF2-40B4-BE49-F238E27FC236}">
                <a16:creationId xmlns:a16="http://schemas.microsoft.com/office/drawing/2014/main" id="{1C5E4F67-07D5-2F20-F154-8D6266B943CC}"/>
              </a:ext>
            </a:extLst>
          </p:cNvPr>
          <p:cNvSpPr txBox="1"/>
          <p:nvPr/>
        </p:nvSpPr>
        <p:spPr>
          <a:xfrm>
            <a:off x="8479389" y="2789049"/>
            <a:ext cx="832651" cy="369332"/>
          </a:xfrm>
          <a:prstGeom prst="rect">
            <a:avLst/>
          </a:prstGeom>
          <a:noFill/>
        </p:spPr>
        <p:txBody>
          <a:bodyPr wrap="square">
            <a:spAutoFit/>
          </a:bodyPr>
          <a:lstStyle/>
          <a:p>
            <a:r>
              <a:rPr lang="es-ES" dirty="0">
                <a:solidFill>
                  <a:schemeClr val="accent4">
                    <a:lumMod val="60000"/>
                    <a:lumOff val="40000"/>
                  </a:schemeClr>
                </a:solidFill>
              </a:rPr>
              <a:t>NOUN</a:t>
            </a:r>
          </a:p>
        </p:txBody>
      </p:sp>
      <p:cxnSp>
        <p:nvCxnSpPr>
          <p:cNvPr id="2" name="Conector recto 1">
            <a:extLst>
              <a:ext uri="{FF2B5EF4-FFF2-40B4-BE49-F238E27FC236}">
                <a16:creationId xmlns:a16="http://schemas.microsoft.com/office/drawing/2014/main" id="{8653D2D1-1BFD-1BB9-7C01-6E6CE00553B0}"/>
              </a:ext>
            </a:extLst>
          </p:cNvPr>
          <p:cNvCxnSpPr>
            <a:cxnSpLocks/>
          </p:cNvCxnSpPr>
          <p:nvPr/>
        </p:nvCxnSpPr>
        <p:spPr>
          <a:xfrm>
            <a:off x="9607597" y="2842904"/>
            <a:ext cx="1010572"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CuadroTexto 5">
            <a:extLst>
              <a:ext uri="{FF2B5EF4-FFF2-40B4-BE49-F238E27FC236}">
                <a16:creationId xmlns:a16="http://schemas.microsoft.com/office/drawing/2014/main" id="{0963B491-EEEB-7D83-EFE2-3EB3493044F0}"/>
              </a:ext>
            </a:extLst>
          </p:cNvPr>
          <p:cNvSpPr txBox="1"/>
          <p:nvPr/>
        </p:nvSpPr>
        <p:spPr>
          <a:xfrm>
            <a:off x="9705255" y="2789049"/>
            <a:ext cx="832651" cy="369332"/>
          </a:xfrm>
          <a:prstGeom prst="rect">
            <a:avLst/>
          </a:prstGeom>
          <a:noFill/>
        </p:spPr>
        <p:txBody>
          <a:bodyPr wrap="square">
            <a:spAutoFit/>
          </a:bodyPr>
          <a:lstStyle/>
          <a:p>
            <a:r>
              <a:rPr lang="es-ES" dirty="0">
                <a:solidFill>
                  <a:schemeClr val="accent4">
                    <a:lumMod val="60000"/>
                    <a:lumOff val="40000"/>
                  </a:schemeClr>
                </a:solidFill>
              </a:rPr>
              <a:t>NOUN</a:t>
            </a:r>
          </a:p>
        </p:txBody>
      </p:sp>
      <p:cxnSp>
        <p:nvCxnSpPr>
          <p:cNvPr id="10" name="Conector recto 9">
            <a:extLst>
              <a:ext uri="{FF2B5EF4-FFF2-40B4-BE49-F238E27FC236}">
                <a16:creationId xmlns:a16="http://schemas.microsoft.com/office/drawing/2014/main" id="{1800B9F0-5F71-8DAE-EEC6-EAE5E5A5D6FE}"/>
              </a:ext>
            </a:extLst>
          </p:cNvPr>
          <p:cNvCxnSpPr>
            <a:cxnSpLocks/>
          </p:cNvCxnSpPr>
          <p:nvPr/>
        </p:nvCxnSpPr>
        <p:spPr>
          <a:xfrm>
            <a:off x="6100443" y="4534693"/>
            <a:ext cx="699858"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2" name="CuadroTexto 11">
            <a:extLst>
              <a:ext uri="{FF2B5EF4-FFF2-40B4-BE49-F238E27FC236}">
                <a16:creationId xmlns:a16="http://schemas.microsoft.com/office/drawing/2014/main" id="{2AFE3125-8E37-EE7A-9750-CE5476F01125}"/>
              </a:ext>
            </a:extLst>
          </p:cNvPr>
          <p:cNvSpPr txBox="1"/>
          <p:nvPr/>
        </p:nvSpPr>
        <p:spPr>
          <a:xfrm>
            <a:off x="6047175" y="4480838"/>
            <a:ext cx="832651" cy="369332"/>
          </a:xfrm>
          <a:prstGeom prst="rect">
            <a:avLst/>
          </a:prstGeom>
          <a:noFill/>
        </p:spPr>
        <p:txBody>
          <a:bodyPr wrap="square">
            <a:spAutoFit/>
          </a:bodyPr>
          <a:lstStyle/>
          <a:p>
            <a:r>
              <a:rPr lang="es-ES" dirty="0">
                <a:solidFill>
                  <a:schemeClr val="accent4">
                    <a:lumMod val="60000"/>
                    <a:lumOff val="40000"/>
                  </a:schemeClr>
                </a:solidFill>
              </a:rPr>
              <a:t>NOUN</a:t>
            </a:r>
          </a:p>
        </p:txBody>
      </p:sp>
      <p:cxnSp>
        <p:nvCxnSpPr>
          <p:cNvPr id="16" name="Conector recto 15">
            <a:extLst>
              <a:ext uri="{FF2B5EF4-FFF2-40B4-BE49-F238E27FC236}">
                <a16:creationId xmlns:a16="http://schemas.microsoft.com/office/drawing/2014/main" id="{5FE2F7BF-943E-DA32-CB7E-F4F80F39A8FC}"/>
              </a:ext>
            </a:extLst>
          </p:cNvPr>
          <p:cNvCxnSpPr>
            <a:cxnSpLocks/>
          </p:cNvCxnSpPr>
          <p:nvPr/>
        </p:nvCxnSpPr>
        <p:spPr>
          <a:xfrm>
            <a:off x="7477222" y="4534693"/>
            <a:ext cx="938815" cy="0"/>
          </a:xfrm>
          <a:prstGeom prst="line">
            <a:avLst/>
          </a:prstGeom>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CuadroTexto 19">
            <a:extLst>
              <a:ext uri="{FF2B5EF4-FFF2-40B4-BE49-F238E27FC236}">
                <a16:creationId xmlns:a16="http://schemas.microsoft.com/office/drawing/2014/main" id="{01718FEF-4472-A504-1368-7578EBA2E412}"/>
              </a:ext>
            </a:extLst>
          </p:cNvPr>
          <p:cNvSpPr txBox="1"/>
          <p:nvPr/>
        </p:nvSpPr>
        <p:spPr>
          <a:xfrm>
            <a:off x="7521612" y="4480838"/>
            <a:ext cx="832651" cy="369332"/>
          </a:xfrm>
          <a:prstGeom prst="rect">
            <a:avLst/>
          </a:prstGeom>
          <a:noFill/>
        </p:spPr>
        <p:txBody>
          <a:bodyPr wrap="square">
            <a:spAutoFit/>
          </a:bodyPr>
          <a:lstStyle/>
          <a:p>
            <a:r>
              <a:rPr lang="es-ES" dirty="0">
                <a:solidFill>
                  <a:schemeClr val="accent4">
                    <a:lumMod val="60000"/>
                    <a:lumOff val="40000"/>
                  </a:schemeClr>
                </a:solidFill>
              </a:rPr>
              <a:t>NOUN</a:t>
            </a:r>
          </a:p>
        </p:txBody>
      </p:sp>
      <p:sp>
        <p:nvSpPr>
          <p:cNvPr id="28" name="CuadroTexto 27">
            <a:extLst>
              <a:ext uri="{FF2B5EF4-FFF2-40B4-BE49-F238E27FC236}">
                <a16:creationId xmlns:a16="http://schemas.microsoft.com/office/drawing/2014/main" id="{43B8D4FB-FD35-B8D4-176F-C58DD3C29F74}"/>
              </a:ext>
            </a:extLst>
          </p:cNvPr>
          <p:cNvSpPr txBox="1"/>
          <p:nvPr/>
        </p:nvSpPr>
        <p:spPr>
          <a:xfrm>
            <a:off x="7256862" y="2782418"/>
            <a:ext cx="832651" cy="369332"/>
          </a:xfrm>
          <a:prstGeom prst="rect">
            <a:avLst/>
          </a:prstGeom>
          <a:noFill/>
          <a:ln>
            <a:noFill/>
          </a:ln>
        </p:spPr>
        <p:txBody>
          <a:bodyPr wrap="square">
            <a:spAutoFit/>
          </a:bodyPr>
          <a:lstStyle/>
          <a:p>
            <a:r>
              <a:rPr lang="es-ES" dirty="0">
                <a:solidFill>
                  <a:schemeClr val="accent1">
                    <a:lumMod val="75000"/>
                  </a:schemeClr>
                </a:solidFill>
              </a:rPr>
              <a:t>ADP</a:t>
            </a:r>
          </a:p>
        </p:txBody>
      </p:sp>
      <p:cxnSp>
        <p:nvCxnSpPr>
          <p:cNvPr id="27" name="Conector recto 26">
            <a:extLst>
              <a:ext uri="{FF2B5EF4-FFF2-40B4-BE49-F238E27FC236}">
                <a16:creationId xmlns:a16="http://schemas.microsoft.com/office/drawing/2014/main" id="{CDEFC51D-819D-E2E7-1106-9CC80719E1BD}"/>
              </a:ext>
            </a:extLst>
          </p:cNvPr>
          <p:cNvCxnSpPr>
            <a:cxnSpLocks/>
          </p:cNvCxnSpPr>
          <p:nvPr/>
        </p:nvCxnSpPr>
        <p:spPr>
          <a:xfrm>
            <a:off x="7278411" y="2842904"/>
            <a:ext cx="49890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CuadroTexto 30">
            <a:extLst>
              <a:ext uri="{FF2B5EF4-FFF2-40B4-BE49-F238E27FC236}">
                <a16:creationId xmlns:a16="http://schemas.microsoft.com/office/drawing/2014/main" id="{70F7433C-1DEB-3EAC-669E-A358619DE744}"/>
              </a:ext>
            </a:extLst>
          </p:cNvPr>
          <p:cNvSpPr txBox="1"/>
          <p:nvPr/>
        </p:nvSpPr>
        <p:spPr>
          <a:xfrm>
            <a:off x="5436293" y="4472142"/>
            <a:ext cx="832651" cy="369332"/>
          </a:xfrm>
          <a:prstGeom prst="rect">
            <a:avLst/>
          </a:prstGeom>
          <a:noFill/>
          <a:ln>
            <a:noFill/>
          </a:ln>
        </p:spPr>
        <p:txBody>
          <a:bodyPr wrap="square">
            <a:spAutoFit/>
          </a:bodyPr>
          <a:lstStyle/>
          <a:p>
            <a:r>
              <a:rPr lang="es-ES" dirty="0">
                <a:solidFill>
                  <a:schemeClr val="accent1">
                    <a:lumMod val="75000"/>
                  </a:schemeClr>
                </a:solidFill>
              </a:rPr>
              <a:t>ADP</a:t>
            </a:r>
          </a:p>
        </p:txBody>
      </p:sp>
      <p:cxnSp>
        <p:nvCxnSpPr>
          <p:cNvPr id="32" name="Conector recto 31">
            <a:extLst>
              <a:ext uri="{FF2B5EF4-FFF2-40B4-BE49-F238E27FC236}">
                <a16:creationId xmlns:a16="http://schemas.microsoft.com/office/drawing/2014/main" id="{3E81666D-200D-2029-CC55-10B507C08091}"/>
              </a:ext>
            </a:extLst>
          </p:cNvPr>
          <p:cNvCxnSpPr>
            <a:cxnSpLocks/>
          </p:cNvCxnSpPr>
          <p:nvPr/>
        </p:nvCxnSpPr>
        <p:spPr>
          <a:xfrm>
            <a:off x="5475598" y="4532628"/>
            <a:ext cx="49890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3" name="CuadroTexto 32">
            <a:extLst>
              <a:ext uri="{FF2B5EF4-FFF2-40B4-BE49-F238E27FC236}">
                <a16:creationId xmlns:a16="http://schemas.microsoft.com/office/drawing/2014/main" id="{34248CD8-04AA-17AA-AD46-E20C0693DD9D}"/>
              </a:ext>
            </a:extLst>
          </p:cNvPr>
          <p:cNvSpPr txBox="1"/>
          <p:nvPr/>
        </p:nvSpPr>
        <p:spPr>
          <a:xfrm>
            <a:off x="7810966" y="2780353"/>
            <a:ext cx="832651" cy="369332"/>
          </a:xfrm>
          <a:prstGeom prst="rect">
            <a:avLst/>
          </a:prstGeom>
          <a:noFill/>
        </p:spPr>
        <p:txBody>
          <a:bodyPr wrap="square">
            <a:spAutoFit/>
          </a:bodyPr>
          <a:lstStyle/>
          <a:p>
            <a:r>
              <a:rPr lang="es-ES" dirty="0">
                <a:solidFill>
                  <a:schemeClr val="accent2">
                    <a:lumMod val="75000"/>
                  </a:schemeClr>
                </a:solidFill>
              </a:rPr>
              <a:t>DET</a:t>
            </a:r>
          </a:p>
        </p:txBody>
      </p:sp>
      <p:cxnSp>
        <p:nvCxnSpPr>
          <p:cNvPr id="34" name="Conector recto 33">
            <a:extLst>
              <a:ext uri="{FF2B5EF4-FFF2-40B4-BE49-F238E27FC236}">
                <a16:creationId xmlns:a16="http://schemas.microsoft.com/office/drawing/2014/main" id="{10673CFF-997D-FCF6-D227-6C19D101B303}"/>
              </a:ext>
            </a:extLst>
          </p:cNvPr>
          <p:cNvCxnSpPr>
            <a:cxnSpLocks/>
          </p:cNvCxnSpPr>
          <p:nvPr/>
        </p:nvCxnSpPr>
        <p:spPr>
          <a:xfrm>
            <a:off x="7850271" y="2840839"/>
            <a:ext cx="498902" cy="0"/>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6" name="CuadroTexto 35">
            <a:extLst>
              <a:ext uri="{FF2B5EF4-FFF2-40B4-BE49-F238E27FC236}">
                <a16:creationId xmlns:a16="http://schemas.microsoft.com/office/drawing/2014/main" id="{A409E223-54E6-45F0-066F-706F9F8CDF8D}"/>
              </a:ext>
            </a:extLst>
          </p:cNvPr>
          <p:cNvSpPr txBox="1"/>
          <p:nvPr/>
        </p:nvSpPr>
        <p:spPr>
          <a:xfrm>
            <a:off x="6855612" y="4474207"/>
            <a:ext cx="832651" cy="369332"/>
          </a:xfrm>
          <a:prstGeom prst="rect">
            <a:avLst/>
          </a:prstGeom>
          <a:noFill/>
        </p:spPr>
        <p:txBody>
          <a:bodyPr wrap="square">
            <a:spAutoFit/>
          </a:bodyPr>
          <a:lstStyle/>
          <a:p>
            <a:r>
              <a:rPr lang="es-ES" dirty="0">
                <a:solidFill>
                  <a:schemeClr val="accent2">
                    <a:lumMod val="75000"/>
                  </a:schemeClr>
                </a:solidFill>
              </a:rPr>
              <a:t>DET</a:t>
            </a:r>
          </a:p>
        </p:txBody>
      </p:sp>
      <p:cxnSp>
        <p:nvCxnSpPr>
          <p:cNvPr id="37" name="Conector recto 36">
            <a:extLst>
              <a:ext uri="{FF2B5EF4-FFF2-40B4-BE49-F238E27FC236}">
                <a16:creationId xmlns:a16="http://schemas.microsoft.com/office/drawing/2014/main" id="{FC74BD61-D512-481D-1F14-045DA79071AB}"/>
              </a:ext>
            </a:extLst>
          </p:cNvPr>
          <p:cNvCxnSpPr>
            <a:cxnSpLocks/>
          </p:cNvCxnSpPr>
          <p:nvPr/>
        </p:nvCxnSpPr>
        <p:spPr>
          <a:xfrm>
            <a:off x="6894917" y="4534693"/>
            <a:ext cx="498902" cy="0"/>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8" name="CuadroTexto 37">
            <a:extLst>
              <a:ext uri="{FF2B5EF4-FFF2-40B4-BE49-F238E27FC236}">
                <a16:creationId xmlns:a16="http://schemas.microsoft.com/office/drawing/2014/main" id="{84D7136D-26D6-AEC8-0238-4D46469CF63F}"/>
              </a:ext>
            </a:extLst>
          </p:cNvPr>
          <p:cNvSpPr txBox="1"/>
          <p:nvPr/>
        </p:nvSpPr>
        <p:spPr>
          <a:xfrm>
            <a:off x="8520927" y="4472142"/>
            <a:ext cx="832651" cy="369332"/>
          </a:xfrm>
          <a:prstGeom prst="rect">
            <a:avLst/>
          </a:prstGeom>
          <a:noFill/>
        </p:spPr>
        <p:txBody>
          <a:bodyPr wrap="square">
            <a:spAutoFit/>
          </a:bodyPr>
          <a:lstStyle/>
          <a:p>
            <a:r>
              <a:rPr lang="es-ES" dirty="0">
                <a:solidFill>
                  <a:schemeClr val="accent6">
                    <a:lumMod val="75000"/>
                  </a:schemeClr>
                </a:solidFill>
              </a:rPr>
              <a:t>PRON</a:t>
            </a:r>
          </a:p>
        </p:txBody>
      </p:sp>
      <p:cxnSp>
        <p:nvCxnSpPr>
          <p:cNvPr id="39" name="Conector recto 38">
            <a:extLst>
              <a:ext uri="{FF2B5EF4-FFF2-40B4-BE49-F238E27FC236}">
                <a16:creationId xmlns:a16="http://schemas.microsoft.com/office/drawing/2014/main" id="{2CEA97B2-3F4E-F9DF-3CE6-4692F1789D0F}"/>
              </a:ext>
            </a:extLst>
          </p:cNvPr>
          <p:cNvCxnSpPr>
            <a:cxnSpLocks/>
          </p:cNvCxnSpPr>
          <p:nvPr/>
        </p:nvCxnSpPr>
        <p:spPr>
          <a:xfrm flipV="1">
            <a:off x="8520389" y="4532628"/>
            <a:ext cx="730149" cy="8696"/>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41" name="CuadroTexto 40">
            <a:extLst>
              <a:ext uri="{FF2B5EF4-FFF2-40B4-BE49-F238E27FC236}">
                <a16:creationId xmlns:a16="http://schemas.microsoft.com/office/drawing/2014/main" id="{E5327EAB-A879-23C6-4B90-C732D1BA8DCC}"/>
              </a:ext>
            </a:extLst>
          </p:cNvPr>
          <p:cNvSpPr txBox="1"/>
          <p:nvPr/>
        </p:nvSpPr>
        <p:spPr>
          <a:xfrm>
            <a:off x="9524056" y="4480838"/>
            <a:ext cx="832651" cy="369332"/>
          </a:xfrm>
          <a:prstGeom prst="rect">
            <a:avLst/>
          </a:prstGeom>
          <a:noFill/>
        </p:spPr>
        <p:txBody>
          <a:bodyPr wrap="square">
            <a:spAutoFit/>
          </a:bodyPr>
          <a:lstStyle/>
          <a:p>
            <a:r>
              <a:rPr lang="es-ES" dirty="0">
                <a:solidFill>
                  <a:srgbClr val="C00000"/>
                </a:solidFill>
              </a:rPr>
              <a:t>ADP</a:t>
            </a:r>
          </a:p>
        </p:txBody>
      </p:sp>
      <p:cxnSp>
        <p:nvCxnSpPr>
          <p:cNvPr id="42" name="Conector recto 41">
            <a:extLst>
              <a:ext uri="{FF2B5EF4-FFF2-40B4-BE49-F238E27FC236}">
                <a16:creationId xmlns:a16="http://schemas.microsoft.com/office/drawing/2014/main" id="{0D2FA4FA-132E-546F-2053-749E12E1A37B}"/>
              </a:ext>
            </a:extLst>
          </p:cNvPr>
          <p:cNvCxnSpPr>
            <a:cxnSpLocks/>
          </p:cNvCxnSpPr>
          <p:nvPr/>
        </p:nvCxnSpPr>
        <p:spPr>
          <a:xfrm>
            <a:off x="9353578" y="4541324"/>
            <a:ext cx="955365" cy="0"/>
          </a:xfrm>
          <a:prstGeom prst="line">
            <a:avLst/>
          </a:prstGeom>
          <a:ln w="57150">
            <a:solidFill>
              <a:srgbClr val="C00000"/>
            </a:solidFill>
          </a:ln>
        </p:spPr>
        <p:style>
          <a:lnRef idx="1">
            <a:schemeClr val="accent1"/>
          </a:lnRef>
          <a:fillRef idx="0">
            <a:schemeClr val="accent1"/>
          </a:fillRef>
          <a:effectRef idx="0">
            <a:schemeClr val="accent1"/>
          </a:effectRef>
          <a:fontRef idx="minor">
            <a:schemeClr val="tx1"/>
          </a:fontRef>
        </p:style>
      </p:cxnSp>
      <p:pic>
        <p:nvPicPr>
          <p:cNvPr id="46" name="Gráfico 45">
            <a:extLst>
              <a:ext uri="{FF2B5EF4-FFF2-40B4-BE49-F238E27FC236}">
                <a16:creationId xmlns:a16="http://schemas.microsoft.com/office/drawing/2014/main" id="{4255A904-5B4C-D098-7528-F2B72735391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456127" y="1690688"/>
            <a:ext cx="3116496" cy="3618598"/>
          </a:xfrm>
          <a:prstGeom prst="rect">
            <a:avLst/>
          </a:prstGeom>
        </p:spPr>
      </p:pic>
      <p:sp>
        <p:nvSpPr>
          <p:cNvPr id="53" name="CuadroTexto 52">
            <a:extLst>
              <a:ext uri="{FF2B5EF4-FFF2-40B4-BE49-F238E27FC236}">
                <a16:creationId xmlns:a16="http://schemas.microsoft.com/office/drawing/2014/main" id="{E4DDA756-9108-3A08-443B-FFABD677A498}"/>
              </a:ext>
            </a:extLst>
          </p:cNvPr>
          <p:cNvSpPr txBox="1"/>
          <p:nvPr/>
        </p:nvSpPr>
        <p:spPr>
          <a:xfrm>
            <a:off x="5432129" y="2235113"/>
            <a:ext cx="5433399" cy="707886"/>
          </a:xfrm>
          <a:prstGeom prst="rect">
            <a:avLst/>
          </a:prstGeom>
          <a:noFill/>
        </p:spPr>
        <p:txBody>
          <a:bodyPr wrap="square">
            <a:spAutoFit/>
          </a:bodyPr>
          <a:lstStyle/>
          <a:p>
            <a:r>
              <a:rPr kumimoji="0" lang="es-ES" sz="4000" b="0" i="0" u="none" strike="noStrike" kern="1200" cap="none" spc="0" normalizeH="0" baseline="0" noProof="0" dirty="0">
                <a:ln>
                  <a:noFill/>
                </a:ln>
                <a:solidFill>
                  <a:prstClr val="black"/>
                </a:solidFill>
                <a:effectLst/>
                <a:uLnTx/>
                <a:uFillTx/>
                <a:latin typeface="Calibri" panose="020F0502020204030204"/>
                <a:ea typeface="+mn-ea"/>
                <a:cs typeface="+mn-cs"/>
              </a:rPr>
              <a:t>A través de la tarde color </a:t>
            </a:r>
            <a:endParaRPr lang="es-ES" dirty="0"/>
          </a:p>
        </p:txBody>
      </p:sp>
    </p:spTree>
    <p:extLst>
      <p:ext uri="{BB962C8B-B14F-4D97-AF65-F5344CB8AC3E}">
        <p14:creationId xmlns:p14="http://schemas.microsoft.com/office/powerpoint/2010/main" val="1563018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F89854-A38B-41AE-E7BE-3191BCB4F159}"/>
              </a:ext>
            </a:extLst>
          </p:cNvPr>
          <p:cNvSpPr>
            <a:spLocks noGrp="1"/>
          </p:cNvSpPr>
          <p:nvPr>
            <p:ph type="ctrTitle"/>
          </p:nvPr>
        </p:nvSpPr>
        <p:spPr>
          <a:xfrm>
            <a:off x="638882" y="3577456"/>
            <a:ext cx="10909640" cy="1687814"/>
          </a:xfrm>
        </p:spPr>
        <p:txBody>
          <a:bodyPr anchor="b">
            <a:normAutofit fontScale="90000"/>
          </a:bodyPr>
          <a:lstStyle/>
          <a:p>
            <a:r>
              <a:rPr lang="es-ES" sz="6600" dirty="0"/>
              <a:t>Etiquetadores morfosintácticos para el español</a:t>
            </a:r>
          </a:p>
        </p:txBody>
      </p:sp>
      <p:pic>
        <p:nvPicPr>
          <p:cNvPr id="5" name="Imagen 4" descr="Un dibujo de un mapa&#10;&#10;Descripción generada automáticamente con confianza baja">
            <a:extLst>
              <a:ext uri="{FF2B5EF4-FFF2-40B4-BE49-F238E27FC236}">
                <a16:creationId xmlns:a16="http://schemas.microsoft.com/office/drawing/2014/main" id="{B4BE14A7-91DE-71D3-BF87-D19082E8E2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8435" y="591670"/>
            <a:ext cx="4810533" cy="2742004"/>
          </a:xfrm>
          <a:prstGeom prst="rect">
            <a:avLst/>
          </a:prstGeom>
        </p:spPr>
      </p:pic>
      <p:sp>
        <p:nvSpPr>
          <p:cNvPr id="6" name="CuadroTexto 5">
            <a:extLst>
              <a:ext uri="{FF2B5EF4-FFF2-40B4-BE49-F238E27FC236}">
                <a16:creationId xmlns:a16="http://schemas.microsoft.com/office/drawing/2014/main" id="{6F720063-F241-9D2F-611E-ADB8CCE07C52}"/>
              </a:ext>
            </a:extLst>
          </p:cNvPr>
          <p:cNvSpPr txBox="1"/>
          <p:nvPr/>
        </p:nvSpPr>
        <p:spPr>
          <a:xfrm>
            <a:off x="638882" y="5876925"/>
            <a:ext cx="10909640" cy="369332"/>
          </a:xfrm>
          <a:prstGeom prst="rect">
            <a:avLst/>
          </a:prstGeom>
          <a:noFill/>
        </p:spPr>
        <p:txBody>
          <a:bodyPr wrap="square" numCol="2" rtlCol="0">
            <a:spAutoFit/>
          </a:bodyPr>
          <a:lstStyle/>
          <a:p>
            <a:pPr algn="ctr"/>
            <a:r>
              <a:rPr lang="es-ES" dirty="0"/>
              <a:t>Miguel García Bohigues</a:t>
            </a:r>
          </a:p>
          <a:p>
            <a:pPr algn="ctr"/>
            <a:r>
              <a:rPr lang="es-ES" dirty="0"/>
              <a:t>Gerard Mas </a:t>
            </a:r>
            <a:r>
              <a:rPr lang="es-ES" dirty="0" err="1"/>
              <a:t>Mollà</a:t>
            </a:r>
            <a:endParaRPr lang="es-ES" dirty="0"/>
          </a:p>
        </p:txBody>
      </p:sp>
      <p:pic>
        <p:nvPicPr>
          <p:cNvPr id="7" name="Imagen 6" descr="Imagen que contiene Texto&#10;&#10;Descripción generada automáticamente">
            <a:extLst>
              <a:ext uri="{FF2B5EF4-FFF2-40B4-BE49-F238E27FC236}">
                <a16:creationId xmlns:a16="http://schemas.microsoft.com/office/drawing/2014/main" id="{5775C0A0-79DF-46A6-0BDC-0641FAB31F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45517" y="6102482"/>
            <a:ext cx="2146483" cy="758682"/>
          </a:xfrm>
          <a:prstGeom prst="rect">
            <a:avLst/>
          </a:prstGeom>
        </p:spPr>
      </p:pic>
      <p:pic>
        <p:nvPicPr>
          <p:cNvPr id="9" name="Imagen 8" descr="Logotipo&#10;&#10;Descripción generada automáticamente con confianza media">
            <a:extLst>
              <a:ext uri="{FF2B5EF4-FFF2-40B4-BE49-F238E27FC236}">
                <a16:creationId xmlns:a16="http://schemas.microsoft.com/office/drawing/2014/main" id="{188BEBE6-84E8-F0FE-5354-642A15BB13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 y="6104073"/>
            <a:ext cx="1962150" cy="755509"/>
          </a:xfrm>
          <a:prstGeom prst="rect">
            <a:avLst/>
          </a:prstGeom>
        </p:spPr>
      </p:pic>
      <p:pic>
        <p:nvPicPr>
          <p:cNvPr id="4" name="Imagen 3">
            <a:extLst>
              <a:ext uri="{FF2B5EF4-FFF2-40B4-BE49-F238E27FC236}">
                <a16:creationId xmlns:a16="http://schemas.microsoft.com/office/drawing/2014/main" id="{80E3B23F-CCF2-F195-FF3B-03EEF0EB19D8}"/>
              </a:ext>
            </a:extLst>
          </p:cNvPr>
          <p:cNvPicPr>
            <a:picLocks noChangeAspect="1"/>
          </p:cNvPicPr>
          <p:nvPr/>
        </p:nvPicPr>
        <p:blipFill>
          <a:blip r:embed="rId5"/>
          <a:stretch>
            <a:fillRect/>
          </a:stretch>
        </p:blipFill>
        <p:spPr>
          <a:xfrm>
            <a:off x="3688435" y="5322975"/>
            <a:ext cx="4914028" cy="342948"/>
          </a:xfrm>
          <a:prstGeom prst="rect">
            <a:avLst/>
          </a:prstGeom>
        </p:spPr>
      </p:pic>
    </p:spTree>
    <p:extLst>
      <p:ext uri="{BB962C8B-B14F-4D97-AF65-F5344CB8AC3E}">
        <p14:creationId xmlns:p14="http://schemas.microsoft.com/office/powerpoint/2010/main" val="400319522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455</Words>
  <Application>Microsoft Office PowerPoint</Application>
  <PresentationFormat>Panorámica</PresentationFormat>
  <Paragraphs>46</Paragraphs>
  <Slides>9</Slides>
  <Notes>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9</vt:i4>
      </vt:variant>
    </vt:vector>
  </HeadingPairs>
  <TitlesOfParts>
    <vt:vector size="13" baseType="lpstr">
      <vt:lpstr>Arial</vt:lpstr>
      <vt:lpstr>Calibri</vt:lpstr>
      <vt:lpstr>Calibri Light</vt:lpstr>
      <vt:lpstr>Tema de Office</vt:lpstr>
      <vt:lpstr>Etiquetadores morfosintácticos para el español</vt:lpstr>
      <vt:lpstr>Índice</vt:lpstr>
      <vt:lpstr>HMM con variación del número de etiquetas</vt:lpstr>
      <vt:lpstr>HMM con entrenamiento incremental</vt:lpstr>
      <vt:lpstr>TnT sin suavizado</vt:lpstr>
      <vt:lpstr>TnT con suavizado por sufijos</vt:lpstr>
      <vt:lpstr>Evaluación de otros modelos</vt:lpstr>
      <vt:lpstr>Evaluación de otros modelos</vt:lpstr>
      <vt:lpstr>Etiquetadores morfosintácticos para el español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Etiquetadores morfosintácticos para el español</dc:title>
  <dc:creator>Miguel Garcia Bohigues</dc:creator>
  <cp:lastModifiedBy>Miguel Garcia Bohigues</cp:lastModifiedBy>
  <cp:revision>5</cp:revision>
  <dcterms:created xsi:type="dcterms:W3CDTF">2022-10-26T14:30:10Z</dcterms:created>
  <dcterms:modified xsi:type="dcterms:W3CDTF">2022-10-27T11:03:39Z</dcterms:modified>
</cp:coreProperties>
</file>