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3"/>
  </p:notesMasterIdLst>
  <p:handoutMasterIdLst>
    <p:handoutMasterId r:id="rId14"/>
  </p:handoutMasterIdLst>
  <p:sldIdLst>
    <p:sldId id="271" r:id="rId2"/>
    <p:sldId id="276" r:id="rId3"/>
    <p:sldId id="278" r:id="rId4"/>
    <p:sldId id="279" r:id="rId5"/>
    <p:sldId id="282" r:id="rId6"/>
    <p:sldId id="280" r:id="rId7"/>
    <p:sldId id="281" r:id="rId8"/>
    <p:sldId id="286" r:id="rId9"/>
    <p:sldId id="283" r:id="rId10"/>
    <p:sldId id="287" r:id="rId11"/>
    <p:sldId id="277" r:id="rId12"/>
  </p:sldIdLst>
  <p:sldSz cx="12192000" cy="6858000"/>
  <p:notesSz cx="9388475" cy="7102475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DB6"/>
    <a:srgbClr val="D9D9D9"/>
    <a:srgbClr val="004568"/>
    <a:srgbClr val="0074AF"/>
    <a:srgbClr val="00B0F0"/>
    <a:srgbClr val="6EAA2E"/>
    <a:srgbClr val="0084B4"/>
    <a:srgbClr val="EFF1F3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86" autoAdjust="0"/>
  </p:normalViewPr>
  <p:slideViewPr>
    <p:cSldViewPr snapToGrid="0">
      <p:cViewPr>
        <p:scale>
          <a:sx n="50" d="100"/>
          <a:sy n="50" d="100"/>
        </p:scale>
        <p:origin x="-29" y="7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2" d="100"/>
        <a:sy n="82" d="100"/>
      </p:scale>
      <p:origin x="0" y="-82"/>
    </p:cViewPr>
  </p:sorterViewPr>
  <p:notesViewPr>
    <p:cSldViewPr snapToGrid="0">
      <p:cViewPr varScale="1">
        <p:scale>
          <a:sx n="109" d="100"/>
          <a:sy n="109" d="100"/>
        </p:scale>
        <p:origin x="24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pPr rtl="0"/>
            <a:fld id="{59D80D25-B206-4F2F-A0E5-FE69FB35D407}" type="datetime1">
              <a:rPr lang="es-ES" smtClean="0"/>
              <a:t>25/10/2022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pPr rtl="0"/>
            <a:fld id="{DBAA5490-FD59-4087-AC7E-016E8A4124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109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3FA2C1CB-B05A-44AD-87CD-C326C038F977}" type="datetime1">
              <a:rPr lang="es-ES" smtClean="0"/>
              <a:pPr/>
              <a:t>25/10/2022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pPr rtl="0"/>
            <a:fld id="{4CBCEA92-F142-4D57-B507-37BDAF44710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020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noProof="0" dirty="0"/>
              <a:t>SUGERENCIA: use colores para contar historias, organice varios gráficos juntos y agregue iconos encima de los gráficos para crear gráficos personalizados. </a:t>
            </a:r>
          </a:p>
          <a:p>
            <a:pPr rtl="0"/>
            <a:endParaRPr lang="es-ES" noProof="0" dirty="0"/>
          </a:p>
          <a:p>
            <a:pPr rtl="0"/>
            <a:r>
              <a:rPr lang="es-ES" b="1" noProof="0" dirty="0"/>
              <a:t>GRÁFICO EDITABLE</a:t>
            </a:r>
            <a:r>
              <a:rPr lang="es-ES" noProof="0" dirty="0"/>
              <a:t> AL FINAL DE LA PRESENTACIÓN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1154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2685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882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16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20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905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106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238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4296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2567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noProof="0" dirty="0"/>
              <a:t>SUGERENCIA: use colores para contar historias, organice varios gráficos juntos y agregue iconos encima de los gráficos para crear gráficos personalizados. </a:t>
            </a:r>
          </a:p>
          <a:p>
            <a:pPr rtl="0"/>
            <a:endParaRPr lang="es-ES" noProof="0" dirty="0"/>
          </a:p>
          <a:p>
            <a:pPr rtl="0"/>
            <a:r>
              <a:rPr lang="es-ES" b="1" noProof="0" dirty="0"/>
              <a:t>GRÁFICO EDITABLE</a:t>
            </a:r>
            <a:r>
              <a:rPr lang="es-ES" noProof="0" dirty="0"/>
              <a:t> AL FINAL DE LA PRESENTACIÓN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378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templates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: sin barra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0"/>
            <a:ext cx="12192000" cy="1225485"/>
          </a:xfrm>
          <a:prstGeom prst="rect">
            <a:avLst/>
          </a:prstGeom>
          <a:solidFill>
            <a:srgbClr val="0074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0806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A73233B-0705-4E94-AE39-0FCF7FAB80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Cuadro de texto 8">
            <a:hlinkClick r:id="rId3"/>
            <a:extLst>
              <a:ext uri="{FF2B5EF4-FFF2-40B4-BE49-F238E27FC236}">
                <a16:creationId xmlns:a16="http://schemas.microsoft.com/office/drawing/2014/main" id="{011B0CED-3A92-43B0-A3DE-C37B6408D9DB}"/>
              </a:ext>
            </a:extLst>
          </p:cNvPr>
          <p:cNvSpPr txBox="1"/>
          <p:nvPr userDrawn="1"/>
        </p:nvSpPr>
        <p:spPr>
          <a:xfrm>
            <a:off x="329642" y="4267687"/>
            <a:ext cx="3175558" cy="32934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Neal Creative  | haga clic y obtenga</a:t>
            </a:r>
            <a:r>
              <a:rPr lang="es-ES" sz="10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más información</a:t>
            </a:r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0BEF3013-858C-4FFF-B19A-1F10A879C4E8}"/>
              </a:ext>
            </a:extLst>
          </p:cNvPr>
          <p:cNvSpPr txBox="1"/>
          <p:nvPr userDrawn="1"/>
        </p:nvSpPr>
        <p:spPr>
          <a:xfrm>
            <a:off x="177800" y="643506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1000" noProof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s-ES" sz="1000" baseline="30000" noProof="0">
                <a:solidFill>
                  <a:schemeClr val="bg1">
                    <a:lumMod val="75000"/>
                  </a:schemeClr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2221538457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Rectángulo 4"/>
          <p:cNvSpPr/>
          <p:nvPr userDrawn="1"/>
        </p:nvSpPr>
        <p:spPr>
          <a:xfrm>
            <a:off x="0" y="0"/>
            <a:ext cx="12192000" cy="1148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7574761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CEEE197-7B3D-420C-8D35-83CAE6B36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solidFill>
            <a:schemeClr val="bg1">
              <a:lumMod val="95000"/>
            </a:schemeClr>
          </a:solidFill>
        </p:spPr>
        <p:txBody>
          <a:bodyPr vert="horz" lIns="457200" tIns="45720" rIns="457200" bIns="45720" rtlCol="0" anchor="ctr">
            <a:noAutofit/>
          </a:bodyPr>
          <a:lstStyle>
            <a:lvl1pPr>
              <a:defRPr lang="en-US" sz="3400" spc="160" baseline="0" dirty="0"/>
            </a:lvl1pPr>
          </a:lstStyle>
          <a:p>
            <a:pPr lvl="0" rtl="0"/>
            <a:r>
              <a:rPr lang="es-ES" noProof="0"/>
              <a:t>HAGA CLIC PARA MODIFICAR EL ESTILO DEL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62543769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: sin barra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0"/>
            <a:ext cx="12192000" cy="1225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Cuadro de texto 3">
            <a:hlinkClick r:id="rId2"/>
          </p:cNvPr>
          <p:cNvSpPr txBox="1"/>
          <p:nvPr userDrawn="1"/>
        </p:nvSpPr>
        <p:spPr>
          <a:xfrm>
            <a:off x="9524236" y="6316156"/>
            <a:ext cx="2426464" cy="367873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 rtl="0"/>
            <a:r>
              <a:rPr lang="es-ES" sz="1100" noProof="0">
                <a:solidFill>
                  <a:schemeClr val="bg1"/>
                </a:solidFill>
              </a:rPr>
              <a:t>Neal Creative | </a:t>
            </a:r>
            <a:r>
              <a:rPr lang="es-ES" sz="1100" b="1" noProof="0">
                <a:solidFill>
                  <a:schemeClr val="bg1"/>
                </a:solidFill>
              </a:rPr>
              <a:t>Más información</a:t>
            </a:r>
          </a:p>
        </p:txBody>
      </p:sp>
      <p:sp>
        <p:nvSpPr>
          <p:cNvPr id="5" name="Cuadro de texto 4">
            <a:extLst>
              <a:ext uri="{FF2B5EF4-FFF2-40B4-BE49-F238E27FC236}">
                <a16:creationId xmlns:a16="http://schemas.microsoft.com/office/drawing/2014/main" id="{FB34A05A-4AD6-4BC6-B6EA-314331190DB2}"/>
              </a:ext>
            </a:extLst>
          </p:cNvPr>
          <p:cNvSpPr txBox="1"/>
          <p:nvPr userDrawn="1"/>
        </p:nvSpPr>
        <p:spPr>
          <a:xfrm>
            <a:off x="177800" y="643506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1000" noProof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s-ES" sz="1000" baseline="30000" noProof="0">
                <a:solidFill>
                  <a:schemeClr val="bg1">
                    <a:lumMod val="75000"/>
                  </a:schemeClr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322627904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0" y="0"/>
            <a:ext cx="12192000" cy="1050758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/>
          <a:p>
            <a:pPr lvl="0" algn="ctr" rtl="0">
              <a:lnSpc>
                <a:spcPct val="90000"/>
              </a:lnSpc>
              <a:spcBef>
                <a:spcPct val="0"/>
              </a:spcBef>
              <a:buNone/>
              <a:tabLst>
                <a:tab pos="10579100" algn="l"/>
              </a:tabLst>
            </a:pPr>
            <a:endParaRPr lang="es-ES" sz="3400" b="0" i="0" spc="160" baseline="0" noProof="0">
              <a:gradFill>
                <a:gsLst>
                  <a:gs pos="0">
                    <a:schemeClr val="tx2"/>
                  </a:gs>
                  <a:gs pos="100000">
                    <a:schemeClr val="tx2"/>
                  </a:gs>
                </a:gsLst>
                <a:lin ang="5400000" scaled="1"/>
              </a:gradFill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/>
          <a:p>
            <a:pPr lv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10579100" algn="l"/>
              </a:tabLst>
            </a:pPr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0" y="1275347"/>
            <a:ext cx="12192000" cy="1949765"/>
          </a:xfrm>
          <a:prstGeom prst="rect">
            <a:avLst/>
          </a:prstGeom>
        </p:spPr>
        <p:txBody>
          <a:bodyPr vert="horz" lIns="457200" tIns="45720" rIns="457200" bIns="45720" rtlCol="0">
            <a:sp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188115" y="63161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 rtl="0"/>
            <a:fld id="{5AE1514C-5E56-4738-A1FF-4B1CFD2A3E3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07179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6" r:id="rId3"/>
    <p:sldLayoutId id="2147483677" r:id="rId4"/>
    <p:sldLayoutId id="2147483679" r:id="rId5"/>
  </p:sldLayoutIdLst>
  <p:transition spd="slow">
    <p:push/>
  </p:transition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tabLst>
          <a:tab pos="10579100" algn="l"/>
        </a:tabLst>
        <a:defRPr lang="en-US" sz="3400" b="0" i="0" kern="1200" spc="160" baseline="0" dirty="0"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>
              <a:lumMod val="85000"/>
              <a:lumOff val="15000"/>
            </a:schemeClr>
          </a:solidFill>
          <a:latin typeface="+mj-lt"/>
          <a:ea typeface="+mn-ea"/>
          <a:cs typeface="+mn-cs"/>
        </a:defRPr>
      </a:lvl1pPr>
      <a:lvl2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ctr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ctr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None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B6BD68-6009-4080-968E-8BD019E9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AC932223-E971-47E8-B27D-32580F5378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1050925"/>
          </a:xfrm>
        </p:spPr>
        <p:txBody>
          <a:bodyPr rtlCol="0"/>
          <a:lstStyle/>
          <a:p>
            <a:pPr rtl="0"/>
            <a:r>
              <a:rPr lang="es-ES" dirty="0"/>
              <a:t>Diapositiva de portada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6C179DB-4EB2-BD8B-058B-50B714E8971E}"/>
              </a:ext>
            </a:extLst>
          </p:cNvPr>
          <p:cNvSpPr/>
          <p:nvPr/>
        </p:nvSpPr>
        <p:spPr>
          <a:xfrm>
            <a:off x="239832" y="176719"/>
            <a:ext cx="894828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Metaheurísticas aplicadas a la </a:t>
            </a:r>
          </a:p>
          <a:p>
            <a:r>
              <a:rPr lang="es-ES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planificación</a:t>
            </a:r>
            <a:r>
              <a:rPr lang="es-E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de procesos </a:t>
            </a:r>
          </a:p>
          <a:p>
            <a:r>
              <a:rPr lang="es-E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 desarrollo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D97FDEF-D026-C762-6106-1C31661761F9}"/>
              </a:ext>
            </a:extLst>
          </p:cNvPr>
          <p:cNvSpPr txBox="1"/>
          <p:nvPr/>
        </p:nvSpPr>
        <p:spPr>
          <a:xfrm>
            <a:off x="4592320" y="3667760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Core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DCDD7E-529F-075C-21CD-B8585F0478B5}"/>
              </a:ext>
            </a:extLst>
          </p:cNvPr>
          <p:cNvSpPr txBox="1"/>
          <p:nvPr/>
        </p:nvSpPr>
        <p:spPr>
          <a:xfrm>
            <a:off x="4592320" y="4160005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Junior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8332743-567E-42C6-FE9B-D95B45CCC19E}"/>
              </a:ext>
            </a:extLst>
          </p:cNvPr>
          <p:cNvSpPr txBox="1"/>
          <p:nvPr/>
        </p:nvSpPr>
        <p:spPr>
          <a:xfrm>
            <a:off x="4592320" y="4656217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Senior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E4BF7C-D05E-9D5D-F785-1D619D9D46AD}"/>
              </a:ext>
            </a:extLst>
          </p:cNvPr>
          <p:cNvSpPr txBox="1"/>
          <p:nvPr/>
        </p:nvSpPr>
        <p:spPr>
          <a:xfrm>
            <a:off x="4592320" y="5152429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Manager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20D77E8-3B44-094C-1E90-37BE8E4A585B}"/>
              </a:ext>
            </a:extLst>
          </p:cNvPr>
          <p:cNvSpPr/>
          <p:nvPr/>
        </p:nvSpPr>
        <p:spPr>
          <a:xfrm>
            <a:off x="239832" y="6034950"/>
            <a:ext cx="53237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Miguel García Bohigues</a:t>
            </a:r>
          </a:p>
        </p:txBody>
      </p:sp>
    </p:spTree>
    <p:extLst>
      <p:ext uri="{BB962C8B-B14F-4D97-AF65-F5344CB8AC3E}">
        <p14:creationId xmlns:p14="http://schemas.microsoft.com/office/powerpoint/2010/main" val="661899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Descripción del problema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2</a:t>
            </a:fld>
            <a:endParaRPr lang="es-ES" sz="1100" dirty="0">
              <a:solidFill>
                <a:schemeClr val="tx2"/>
              </a:solidFill>
            </a:endParaRPr>
          </a:p>
        </p:txBody>
      </p:sp>
      <p:pic>
        <p:nvPicPr>
          <p:cNvPr id="1026" name="Picture 2" descr="Principios del desarrollo ágil. Cómo aplicar metodologías ágiles. | Renacen">
            <a:extLst>
              <a:ext uri="{FF2B5EF4-FFF2-40B4-BE49-F238E27FC236}">
                <a16:creationId xmlns:a16="http://schemas.microsoft.com/office/drawing/2014/main" id="{B540BAFB-09EC-E2C7-0A31-13D1D9FA0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307" y="1966401"/>
            <a:ext cx="3657008" cy="363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1C08788-1213-9421-0E48-2722D5CC99DA}"/>
              </a:ext>
            </a:extLst>
          </p:cNvPr>
          <p:cNvSpPr txBox="1"/>
          <p:nvPr/>
        </p:nvSpPr>
        <p:spPr>
          <a:xfrm>
            <a:off x="296024" y="1895642"/>
            <a:ext cx="71221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El desarrollo de software ha adoptado metodologías ágiles para ajustarse a las peticiones cambiantes de los clientes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Desarrollo del producto descompuesto en fases(</a:t>
            </a:r>
            <a:r>
              <a:rPr lang="es-ES" sz="2000" i="1" dirty="0" err="1"/>
              <a:t>sprints</a:t>
            </a:r>
            <a:r>
              <a:rPr lang="es-E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i="1" dirty="0"/>
              <a:t>Sprint = </a:t>
            </a:r>
            <a:r>
              <a:rPr lang="es-ES" sz="2000" dirty="0"/>
              <a:t>Conjunto de tareas a realizar en un período de tiempo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Problema: decidir qué recursos asignar a cada tarea priorizando la necesidad del cliente </a:t>
            </a:r>
            <a:r>
              <a:rPr lang="es-ES" sz="2000" dirty="0">
                <a:sym typeface="Wingdings" panose="05000000000000000000" pitchFamily="2" charset="2"/>
              </a:rPr>
              <a:t> Coste temporal vs monetario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27710329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Representación del problema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3</a:t>
            </a:fld>
            <a:endParaRPr lang="es-ES" sz="1100" dirty="0">
              <a:solidFill>
                <a:schemeClr val="tx2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C08788-1213-9421-0E48-2722D5CC99DA}"/>
              </a:ext>
            </a:extLst>
          </p:cNvPr>
          <p:cNvSpPr txBox="1"/>
          <p:nvPr/>
        </p:nvSpPr>
        <p:spPr>
          <a:xfrm>
            <a:off x="296024" y="1594457"/>
            <a:ext cx="56069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Tarea: desarrollo a realizar por un perfil</a:t>
            </a:r>
            <a:r>
              <a:rPr lang="es-ES" sz="2000" b="1" dirty="0"/>
              <a:t> </a:t>
            </a:r>
            <a:r>
              <a:rPr lang="es-ES" sz="2000" dirty="0"/>
              <a:t>profesional en un tiempo determinado</a:t>
            </a:r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Función multiobjetivo </a:t>
            </a:r>
            <a:r>
              <a:rPr lang="es-ES" sz="2000" dirty="0">
                <a:sym typeface="Wingdings" panose="05000000000000000000" pitchFamily="2" charset="2"/>
              </a:rPr>
              <a:t> No existe una única solución Optima (Frontera de Pareto)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Interpolación Lineal para calcular el Fitness de los individuos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8F678B9-B3BB-E32C-6412-8E66AA02F872}"/>
                  </a:ext>
                </a:extLst>
              </p:cNvPr>
              <p:cNvSpPr txBox="1"/>
              <p:nvPr/>
            </p:nvSpPr>
            <p:spPr>
              <a:xfrm>
                <a:off x="5985396" y="5149334"/>
                <a:ext cx="609600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s-ES" i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8F678B9-B3BB-E32C-6412-8E66AA02F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396" y="5149334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79DF0E5-3F32-7C35-C371-1114410CE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56686"/>
              </p:ext>
            </p:extLst>
          </p:nvPr>
        </p:nvGraphicFramePr>
        <p:xfrm>
          <a:off x="6170816" y="1622358"/>
          <a:ext cx="5725160" cy="108394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31290">
                  <a:extLst>
                    <a:ext uri="{9D8B030D-6E8A-4147-A177-3AD203B41FA5}">
                      <a16:colId xmlns:a16="http://schemas.microsoft.com/office/drawing/2014/main" val="1819460027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722393061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876652075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18307909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Rol del trabajador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750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Rol de la tarea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Junior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Senior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Core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2649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Junior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1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0.85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0.7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428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Senior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1.3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1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0.85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7985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Core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1000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1.3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1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0601908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EAE5F62-BD96-DFAC-62C7-7B9BF1893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17235"/>
              </p:ext>
            </p:extLst>
          </p:nvPr>
        </p:nvGraphicFramePr>
        <p:xfrm>
          <a:off x="6170816" y="3192835"/>
          <a:ext cx="5725160" cy="433578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2515981820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305796584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229745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Junior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Senior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Core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1195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b="0" dirty="0">
                          <a:effectLst/>
                        </a:rPr>
                        <a:t>10.064€/h</a:t>
                      </a:r>
                      <a:endParaRPr lang="es-E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15.685€/h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20.102€/h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4968872"/>
                  </a:ext>
                </a:extLst>
              </a:tr>
            </a:tbl>
          </a:graphicData>
        </a:graphic>
      </p:graphicFrame>
      <p:sp>
        <p:nvSpPr>
          <p:cNvPr id="7" name="Abrir llave 6">
            <a:extLst>
              <a:ext uri="{FF2B5EF4-FFF2-40B4-BE49-F238E27FC236}">
                <a16:creationId xmlns:a16="http://schemas.microsoft.com/office/drawing/2014/main" id="{615363AF-3F65-B98E-D92B-EB1DBDF6926F}"/>
              </a:ext>
            </a:extLst>
          </p:cNvPr>
          <p:cNvSpPr/>
          <p:nvPr/>
        </p:nvSpPr>
        <p:spPr>
          <a:xfrm>
            <a:off x="296024" y="4754880"/>
            <a:ext cx="568960" cy="1158240"/>
          </a:xfrm>
          <a:prstGeom prst="leftBrac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D8FD532-6C71-0574-80F3-74700E6FD7F4}"/>
              </a:ext>
            </a:extLst>
          </p:cNvPr>
          <p:cNvSpPr/>
          <p:nvPr/>
        </p:nvSpPr>
        <p:spPr>
          <a:xfrm>
            <a:off x="864984" y="4968240"/>
            <a:ext cx="750456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331AE55-2EC5-3BCA-1CEA-D55DA4FBE335}"/>
              </a:ext>
            </a:extLst>
          </p:cNvPr>
          <p:cNvSpPr/>
          <p:nvPr/>
        </p:nvSpPr>
        <p:spPr>
          <a:xfrm>
            <a:off x="4022668" y="4968240"/>
            <a:ext cx="750456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EDA436C-DF8F-56A9-9553-9CFCF6E71341}"/>
              </a:ext>
            </a:extLst>
          </p:cNvPr>
          <p:cNvSpPr/>
          <p:nvPr/>
        </p:nvSpPr>
        <p:spPr>
          <a:xfrm>
            <a:off x="2570480" y="4968240"/>
            <a:ext cx="750456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0CE1777-9FAA-0A21-A42B-E2DAC018E343}"/>
              </a:ext>
            </a:extLst>
          </p:cNvPr>
          <p:cNvSpPr/>
          <p:nvPr/>
        </p:nvSpPr>
        <p:spPr>
          <a:xfrm>
            <a:off x="1717732" y="4968240"/>
            <a:ext cx="750456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J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DD8A00C4-284C-5F3E-3289-0146BDF15217}"/>
              </a:ext>
            </a:extLst>
          </p:cNvPr>
          <p:cNvSpPr/>
          <p:nvPr/>
        </p:nvSpPr>
        <p:spPr>
          <a:xfrm>
            <a:off x="4773124" y="4754880"/>
            <a:ext cx="568960" cy="1158240"/>
          </a:xfrm>
          <a:prstGeom prst="rightBrac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4391B1A-B0FF-21C5-EB65-2F8BB0051162}"/>
              </a:ext>
            </a:extLst>
          </p:cNvPr>
          <p:cNvSpPr txBox="1"/>
          <p:nvPr/>
        </p:nvSpPr>
        <p:spPr>
          <a:xfrm>
            <a:off x="3320936" y="5201920"/>
            <a:ext cx="70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6047253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Diseño algoritmo genético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4</a:t>
            </a:fld>
            <a:endParaRPr lang="es-ES" sz="1100" dirty="0">
              <a:solidFill>
                <a:schemeClr val="tx2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0EB6FD-47E4-D501-FDAC-23DF343A08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263" y="1137921"/>
            <a:ext cx="7909052" cy="278034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76A444C-1C91-67BD-D13C-800D9C6B07C5}"/>
              </a:ext>
            </a:extLst>
          </p:cNvPr>
          <p:cNvSpPr txBox="1"/>
          <p:nvPr/>
        </p:nvSpPr>
        <p:spPr>
          <a:xfrm>
            <a:off x="172720" y="2622242"/>
            <a:ext cx="64312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Población inicial</a:t>
            </a:r>
            <a:r>
              <a:rPr lang="es-ES" sz="2000" dirty="0"/>
              <a:t>: generada arbitrariamente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Selección</a:t>
            </a:r>
            <a:r>
              <a:rPr lang="es-ES" dirty="0"/>
              <a:t>: Por ruleta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Cruce</a:t>
            </a:r>
            <a:r>
              <a:rPr lang="es-ES" dirty="0"/>
              <a:t>: basado en N particiones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Reparación de individuos no válidos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Reemplazo</a:t>
            </a:r>
            <a:r>
              <a:rPr lang="es-ES" dirty="0"/>
              <a:t>: elitista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Criterio de convergencia</a:t>
            </a:r>
            <a:r>
              <a:rPr lang="es-ES" dirty="0"/>
              <a:t>: iteraciones sin mejora de fitness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Aplanado de individuos al producirse un estancamiento</a:t>
            </a:r>
          </a:p>
        </p:txBody>
      </p:sp>
    </p:spTree>
    <p:extLst>
      <p:ext uri="{BB962C8B-B14F-4D97-AF65-F5344CB8AC3E}">
        <p14:creationId xmlns:p14="http://schemas.microsoft.com/office/powerpoint/2010/main" val="3483146701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Diseño enfriamiento simulado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5</a:t>
            </a:fld>
            <a:endParaRPr lang="es-ES" sz="1100" dirty="0">
              <a:solidFill>
                <a:schemeClr val="tx2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0EB6FD-47E4-D501-FDAC-23DF343A0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240" y="4087770"/>
            <a:ext cx="10979520" cy="22893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76A444C-1C91-67BD-D13C-800D9C6B07C5}"/>
                  </a:ext>
                </a:extLst>
              </p:cNvPr>
              <p:cNvSpPr txBox="1"/>
              <p:nvPr/>
            </p:nvSpPr>
            <p:spPr>
              <a:xfrm>
                <a:off x="606240" y="1551563"/>
                <a:ext cx="10979520" cy="2369880"/>
              </a:xfrm>
              <a:prstGeom prst="rect">
                <a:avLst/>
              </a:prstGeom>
              <a:noFill/>
            </p:spPr>
            <p:txBody>
              <a:bodyPr wrap="square" numCol="2" spcCol="36000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2000" b="1" dirty="0"/>
                  <a:t>Solución inicial</a:t>
                </a:r>
                <a:r>
                  <a:rPr lang="es-ES" sz="2000" dirty="0"/>
                  <a:t>: generada arbitrariamente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/>
                  <a:t>Generación de vecinos</a:t>
                </a:r>
                <a:r>
                  <a:rPr lang="es-ES" dirty="0"/>
                  <a:t>: Por mutación aleatoria de genomas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/>
                  <a:t>Selección del individuo: </a:t>
                </a:r>
                <a:r>
                  <a:rPr lang="es-ES" dirty="0"/>
                  <a:t>Probabilística basada en el valor de la temperatura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/>
                  <a:t>Criterio de convergencia</a:t>
                </a:r>
                <a:r>
                  <a:rPr lang="es-ES" dirty="0"/>
                  <a:t>: Iteraciones sin mejora de fitness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Reparación de individuos no válidos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/>
                  <a:t>Decremento de temperatura</a:t>
                </a:r>
                <a:r>
                  <a:rPr lang="es-E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num>
                      <m:den>
                        <m:r>
                          <a:rPr lang="es-E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es-E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E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s-E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76A444C-1C91-67BD-D13C-800D9C6B0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40" y="1551563"/>
                <a:ext cx="10979520" cy="2369880"/>
              </a:xfrm>
              <a:prstGeom prst="rect">
                <a:avLst/>
              </a:prstGeom>
              <a:blipFill>
                <a:blip r:embed="rId4"/>
                <a:stretch>
                  <a:fillRect l="-499" t="-1289" r="-9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30572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Implementación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6</a:t>
            </a:fld>
            <a:endParaRPr lang="es-ES" sz="1100" dirty="0">
              <a:solidFill>
                <a:schemeClr val="tx2"/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19864D4-9EF4-570C-0D35-54A4D6C3A5DA}"/>
              </a:ext>
            </a:extLst>
          </p:cNvPr>
          <p:cNvSpPr/>
          <p:nvPr/>
        </p:nvSpPr>
        <p:spPr>
          <a:xfrm>
            <a:off x="3261360" y="1290002"/>
            <a:ext cx="5557520" cy="526967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A770D8A9-9C16-C3AB-6EF3-E5CC2191B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671" y="1559662"/>
            <a:ext cx="1310657" cy="1436183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D0945CF3-C808-5EBA-E488-BD5719AA3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40" y="3120378"/>
            <a:ext cx="1476538" cy="1476538"/>
          </a:xfrm>
          <a:prstGeom prst="rect">
            <a:avLst/>
          </a:prstGeom>
        </p:spPr>
      </p:pic>
      <p:pic>
        <p:nvPicPr>
          <p:cNvPr id="10" name="Imagen 9" descr="Gráfico, Gráfico radial&#10;&#10;Descripción generada automáticamente">
            <a:extLst>
              <a:ext uri="{FF2B5EF4-FFF2-40B4-BE49-F238E27FC236}">
                <a16:creationId xmlns:a16="http://schemas.microsoft.com/office/drawing/2014/main" id="{6E844EA6-E48B-B6BC-6401-C5A0596E5F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8667" y1="12406" x2="48667" y2="12406"/>
                        <a14:foregroundMark x1="24889" y1="81015" x2="24889" y2="81015"/>
                        <a14:foregroundMark x1="29222" y1="80827" x2="28111" y2="80451"/>
                        <a14:foregroundMark x1="30667" y1="79323" x2="31667" y2="80263"/>
                        <a14:foregroundMark x1="34077" y1="85526" x2="34333" y2="87406"/>
                        <a14:foregroundMark x1="34000" y1="84962" x2="34077" y2="85526"/>
                        <a14:foregroundMark x1="38111" y1="85150" x2="38778" y2="82519"/>
                        <a14:foregroundMark x1="42111" y1="78195" x2="41889" y2="81579"/>
                        <a14:foregroundMark x1="45444" y1="82519" x2="44889" y2="86278"/>
                        <a14:foregroundMark x1="53222" y1="76504" x2="52444" y2="81579"/>
                        <a14:foregroundMark x1="55889" y1="81203" x2="54667" y2="84586"/>
                        <a14:foregroundMark x1="63222" y1="78008" x2="62667" y2="82895"/>
                        <a14:foregroundMark x1="67111" y1="76692" x2="66333" y2="82519"/>
                        <a14:foregroundMark x1="69333" y1="80451" x2="68889" y2="84211"/>
                        <a14:foregroundMark x1="70222" y1="76128" x2="70222" y2="76128"/>
                        <a14:foregroundMark x1="72889" y1="76880" x2="72111" y2="83459"/>
                        <a14:foregroundMark x1="57667" y1="17105" x2="57667" y2="17105"/>
                        <a14:backgroundMark x1="35556" y1="85526" x2="35556" y2="855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26" y="4886959"/>
            <a:ext cx="2661987" cy="1573530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620D010-5481-280A-8A56-69C7C9FC37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1948" y1="24339" x2="41948" y2="32275"/>
                        <a14:foregroundMark x1="47566" y1="16931" x2="47566" y2="18519"/>
                        <a14:foregroundMark x1="47191" y1="28042" x2="47191" y2="28042"/>
                        <a14:foregroundMark x1="47191" y1="37566" x2="47191" y2="37566"/>
                        <a14:foregroundMark x1="53933" y1="24339" x2="53933" y2="24339"/>
                        <a14:foregroundMark x1="52434" y1="36508" x2="52434" y2="36508"/>
                        <a14:foregroundMark x1="52434" y1="46032" x2="52434" y2="46032"/>
                        <a14:foregroundMark x1="58052" y1="30159" x2="58052" y2="30159"/>
                        <a14:foregroundMark x1="10861" y1="72487" x2="10861" y2="77778"/>
                        <a14:foregroundMark x1="34831" y1="71429" x2="34457" y2="76190"/>
                        <a14:foregroundMark x1="40449" y1="70899" x2="40449" y2="74603"/>
                        <a14:foregroundMark x1="77528" y1="69841" x2="77528" y2="73016"/>
                        <a14:foregroundMark x1="84270" y1="74074" x2="85768" y2="761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480" y="3260829"/>
            <a:ext cx="1803400" cy="1276564"/>
          </a:xfrm>
          <a:prstGeom prst="rect">
            <a:avLst/>
          </a:prstGeom>
        </p:spPr>
      </p:pic>
      <p:sp>
        <p:nvSpPr>
          <p:cNvPr id="13" name="Flecha: cuádruple 12">
            <a:extLst>
              <a:ext uri="{FF2B5EF4-FFF2-40B4-BE49-F238E27FC236}">
                <a16:creationId xmlns:a16="http://schemas.microsoft.com/office/drawing/2014/main" id="{2414F7E2-B84A-B7FE-436A-5AB0A0CE9F7E}"/>
              </a:ext>
            </a:extLst>
          </p:cNvPr>
          <p:cNvSpPr/>
          <p:nvPr/>
        </p:nvSpPr>
        <p:spPr>
          <a:xfrm>
            <a:off x="5138420" y="3154637"/>
            <a:ext cx="1803400" cy="1573530"/>
          </a:xfrm>
          <a:prstGeom prst="quadArrow">
            <a:avLst>
              <a:gd name="adj1" fmla="val 20243"/>
              <a:gd name="adj2" fmla="val 22500"/>
              <a:gd name="adj3" fmla="val 208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4537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Estimación de parámetros: AG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7</a:t>
            </a:fld>
            <a:endParaRPr lang="es-ES" sz="1100" dirty="0">
              <a:solidFill>
                <a:schemeClr val="tx2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D5CE16-3BAB-5EFB-8C0A-E12D0F9E1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500" y="1192801"/>
            <a:ext cx="3771552" cy="28287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696B30F-0389-3194-CF1B-410B90B55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052" y="1192712"/>
            <a:ext cx="3771552" cy="2828873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EDCA331-C20D-85C8-BDD0-996BF8C48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00507"/>
              </p:ext>
            </p:extLst>
          </p:nvPr>
        </p:nvGraphicFramePr>
        <p:xfrm>
          <a:off x="577181" y="1526843"/>
          <a:ext cx="2743200" cy="149949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141739">
                  <a:extLst>
                    <a:ext uri="{9D8B030D-6E8A-4147-A177-3AD203B41FA5}">
                      <a16:colId xmlns:a16="http://schemas.microsoft.com/office/drawing/2014/main" val="526901815"/>
                    </a:ext>
                  </a:extLst>
                </a:gridCol>
                <a:gridCol w="1601461">
                  <a:extLst>
                    <a:ext uri="{9D8B030D-6E8A-4147-A177-3AD203B41FA5}">
                      <a16:colId xmlns:a16="http://schemas.microsoft.com/office/drawing/2014/main" val="609596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Talla del problema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Variación del fitness 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978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50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±</a:t>
                      </a:r>
                      <a:r>
                        <a:rPr lang="es-ES" sz="1600">
                          <a:effectLst/>
                        </a:rPr>
                        <a:t>1.25%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491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70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±</a:t>
                      </a:r>
                      <a:r>
                        <a:rPr lang="es-ES" sz="1600" dirty="0">
                          <a:effectLst/>
                        </a:rPr>
                        <a:t>1.19%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823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85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±</a:t>
                      </a:r>
                      <a:r>
                        <a:rPr lang="es-ES" sz="1600" dirty="0">
                          <a:effectLst/>
                        </a:rPr>
                        <a:t>1.36%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4259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100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±</a:t>
                      </a:r>
                      <a:r>
                        <a:rPr lang="es-ES" sz="1600" dirty="0">
                          <a:effectLst/>
                        </a:rPr>
                        <a:t>1%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9707640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9B3785F-BCF6-F068-D7AA-26ABB5ECB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12671"/>
              </p:ext>
            </p:extLst>
          </p:nvPr>
        </p:nvGraphicFramePr>
        <p:xfrm>
          <a:off x="3971590" y="4862360"/>
          <a:ext cx="4416076" cy="1325376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1797164">
                  <a:extLst>
                    <a:ext uri="{9D8B030D-6E8A-4147-A177-3AD203B41FA5}">
                      <a16:colId xmlns:a16="http://schemas.microsoft.com/office/drawing/2014/main" val="842632645"/>
                    </a:ext>
                  </a:extLst>
                </a:gridCol>
                <a:gridCol w="2618912">
                  <a:extLst>
                    <a:ext uri="{9D8B030D-6E8A-4147-A177-3AD203B41FA5}">
                      <a16:colId xmlns:a16="http://schemas.microsoft.com/office/drawing/2014/main" val="3772474523"/>
                    </a:ext>
                  </a:extLst>
                </a:gridCol>
              </a:tblGrid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Parámetro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Valor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5725745"/>
                  </a:ext>
                </a:extLst>
              </a:tr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Población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9223340"/>
                  </a:ext>
                </a:extLst>
              </a:tr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% descendientes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9505497"/>
                  </a:ext>
                </a:extLst>
              </a:tr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% Particiones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0.6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3915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021264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Estimación de parámetros: ES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8</a:t>
            </a:fld>
            <a:endParaRPr lang="es-ES" sz="1100" dirty="0">
              <a:solidFill>
                <a:schemeClr val="tx2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D5CE16-3BAB-5EFB-8C0A-E12D0F9E1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213" y="1192801"/>
            <a:ext cx="3769726" cy="28287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696B30F-0389-3194-CF1B-410B90B55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1018" y="1192712"/>
            <a:ext cx="3769963" cy="2828873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9B3785F-BCF6-F068-D7AA-26ABB5ECB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347433"/>
              </p:ext>
            </p:extLst>
          </p:nvPr>
        </p:nvGraphicFramePr>
        <p:xfrm>
          <a:off x="3971590" y="4862360"/>
          <a:ext cx="4416076" cy="1325376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1797164">
                  <a:extLst>
                    <a:ext uri="{9D8B030D-6E8A-4147-A177-3AD203B41FA5}">
                      <a16:colId xmlns:a16="http://schemas.microsoft.com/office/drawing/2014/main" val="842632645"/>
                    </a:ext>
                  </a:extLst>
                </a:gridCol>
                <a:gridCol w="2618912">
                  <a:extLst>
                    <a:ext uri="{9D8B030D-6E8A-4147-A177-3AD203B41FA5}">
                      <a16:colId xmlns:a16="http://schemas.microsoft.com/office/drawing/2014/main" val="3772474523"/>
                    </a:ext>
                  </a:extLst>
                </a:gridCol>
              </a:tblGrid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Parámetro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Valor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5725745"/>
                  </a:ext>
                </a:extLst>
              </a:tr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Temp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. inicial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9223340"/>
                  </a:ext>
                </a:extLst>
              </a:tr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0.001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9505497"/>
                  </a:ext>
                </a:extLst>
              </a:tr>
              <a:tr h="33134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Num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. vecinos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3915631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598A41E7-1AB6-3AD8-D29D-25357FAF6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609" y="1264434"/>
            <a:ext cx="3769963" cy="28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04573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AG vs ES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9</a:t>
            </a:fld>
            <a:endParaRPr lang="es-ES" sz="1100" dirty="0">
              <a:solidFill>
                <a:schemeClr val="tx2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4CD397F-4C24-9873-44CE-EA0F291CE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438929"/>
              </p:ext>
            </p:extLst>
          </p:nvPr>
        </p:nvGraphicFramePr>
        <p:xfrm>
          <a:off x="6832835" y="1274550"/>
          <a:ext cx="4710560" cy="990856"/>
        </p:xfrm>
        <a:graphic>
          <a:graphicData uri="http://schemas.openxmlformats.org/drawingml/2006/table">
            <a:tbl>
              <a:tblPr firstRow="1" firstCol="1" bandRow="1">
                <a:tableStyleId>{2A488322-F2BA-4B5B-9748-0D474271808F}</a:tableStyleId>
              </a:tblPr>
              <a:tblGrid>
                <a:gridCol w="2355280">
                  <a:extLst>
                    <a:ext uri="{9D8B030D-6E8A-4147-A177-3AD203B41FA5}">
                      <a16:colId xmlns:a16="http://schemas.microsoft.com/office/drawing/2014/main" val="1838219289"/>
                    </a:ext>
                  </a:extLst>
                </a:gridCol>
                <a:gridCol w="2355280">
                  <a:extLst>
                    <a:ext uri="{9D8B030D-6E8A-4147-A177-3AD203B41FA5}">
                      <a16:colId xmlns:a16="http://schemas.microsoft.com/office/drawing/2014/main" val="1029467028"/>
                    </a:ext>
                  </a:extLst>
                </a:gridCol>
              </a:tblGrid>
              <a:tr h="60055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Parámetro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Valor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521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Horas de desarrollo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566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813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Coste total (€)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8463.15 €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6681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Valor del fitness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3330.00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537333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01C405CE-6376-6C0E-D77E-A055C05DC46E}"/>
              </a:ext>
            </a:extLst>
          </p:cNvPr>
          <p:cNvSpPr txBox="1"/>
          <p:nvPr/>
        </p:nvSpPr>
        <p:spPr>
          <a:xfrm>
            <a:off x="337351" y="1210313"/>
            <a:ext cx="6533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Nuevo problema: 65 tareas a asignar. Solución base:</a:t>
            </a:r>
            <a:endParaRPr lang="es-ES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9876557-55CE-69A9-BDC2-5764408A5825}"/>
              </a:ext>
            </a:extLst>
          </p:cNvPr>
          <p:cNvCxnSpPr>
            <a:cxnSpLocks/>
          </p:cNvCxnSpPr>
          <p:nvPr/>
        </p:nvCxnSpPr>
        <p:spPr>
          <a:xfrm>
            <a:off x="514905" y="2610027"/>
            <a:ext cx="1102849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F744328D-E558-B078-EA33-AC4667F58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846" y="2859273"/>
            <a:ext cx="4544478" cy="3408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0F8259C-2753-DBD3-1483-6C52FD8886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76" y="2859273"/>
            <a:ext cx="4544478" cy="3408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168662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rtlCol="0"/>
          <a:lstStyle/>
          <a:p>
            <a:pPr rtl="0"/>
            <a:r>
              <a:rPr lang="es-ES" dirty="0"/>
              <a:t>AG vs ES</a:t>
            </a:r>
          </a:p>
        </p:txBody>
      </p:sp>
      <p:sp>
        <p:nvSpPr>
          <p:cNvPr id="9" name="Marcador de número de diapositiva 2"/>
          <p:cNvSpPr txBox="1">
            <a:spLocks/>
          </p:cNvSpPr>
          <p:nvPr/>
        </p:nvSpPr>
        <p:spPr>
          <a:xfrm>
            <a:off x="9188115" y="6377116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5AE1514C-5E56-4738-A1FF-4B1CFD2A3E36}" type="slidenum">
              <a:rPr lang="es-ES" sz="1100" smtClean="0">
                <a:solidFill>
                  <a:schemeClr val="tx2"/>
                </a:solidFill>
              </a:rPr>
              <a:pPr algn="r" rtl="0"/>
              <a:t>10</a:t>
            </a:fld>
            <a:endParaRPr lang="es-ES" sz="1100" dirty="0">
              <a:solidFill>
                <a:schemeClr val="tx2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4CD397F-4C24-9873-44CE-EA0F291CE2C1}"/>
              </a:ext>
            </a:extLst>
          </p:cNvPr>
          <p:cNvGraphicFramePr>
            <a:graphicFrameLocks noGrp="1"/>
          </p:cNvGraphicFramePr>
          <p:nvPr/>
        </p:nvGraphicFramePr>
        <p:xfrm>
          <a:off x="6832835" y="1274550"/>
          <a:ext cx="4710560" cy="990856"/>
        </p:xfrm>
        <a:graphic>
          <a:graphicData uri="http://schemas.openxmlformats.org/drawingml/2006/table">
            <a:tbl>
              <a:tblPr firstRow="1" firstCol="1" bandRow="1">
                <a:tableStyleId>{2A488322-F2BA-4B5B-9748-0D474271808F}</a:tableStyleId>
              </a:tblPr>
              <a:tblGrid>
                <a:gridCol w="2355280">
                  <a:extLst>
                    <a:ext uri="{9D8B030D-6E8A-4147-A177-3AD203B41FA5}">
                      <a16:colId xmlns:a16="http://schemas.microsoft.com/office/drawing/2014/main" val="1838219289"/>
                    </a:ext>
                  </a:extLst>
                </a:gridCol>
                <a:gridCol w="2355280">
                  <a:extLst>
                    <a:ext uri="{9D8B030D-6E8A-4147-A177-3AD203B41FA5}">
                      <a16:colId xmlns:a16="http://schemas.microsoft.com/office/drawing/2014/main" val="1029467028"/>
                    </a:ext>
                  </a:extLst>
                </a:gridCol>
              </a:tblGrid>
              <a:tr h="60055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Parámetro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Valor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521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Horas de desarrollo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566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813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Coste total (€)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8463.15 €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6681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Valor del fitness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3330.00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537333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01C405CE-6376-6C0E-D77E-A055C05DC46E}"/>
              </a:ext>
            </a:extLst>
          </p:cNvPr>
          <p:cNvSpPr txBox="1"/>
          <p:nvPr/>
        </p:nvSpPr>
        <p:spPr>
          <a:xfrm>
            <a:off x="337351" y="1210313"/>
            <a:ext cx="6533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Nuevo problema: 65 tareas a asignar. Solución base:</a:t>
            </a:r>
            <a:endParaRPr lang="es-ES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9876557-55CE-69A9-BDC2-5764408A5825}"/>
              </a:ext>
            </a:extLst>
          </p:cNvPr>
          <p:cNvCxnSpPr>
            <a:cxnSpLocks/>
          </p:cNvCxnSpPr>
          <p:nvPr/>
        </p:nvCxnSpPr>
        <p:spPr>
          <a:xfrm>
            <a:off x="514905" y="2610027"/>
            <a:ext cx="1102849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1EFB61CF-DDCD-F7A7-3969-FBEBB2520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372" y="2627783"/>
            <a:ext cx="5723255" cy="41230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423793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B6BD68-6009-4080-968E-8BD019E9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AC932223-E971-47E8-B27D-32580F5378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1050925"/>
          </a:xfrm>
        </p:spPr>
        <p:txBody>
          <a:bodyPr rtlCol="0"/>
          <a:lstStyle/>
          <a:p>
            <a:pPr rtl="0"/>
            <a:r>
              <a:rPr lang="es-ES" dirty="0"/>
              <a:t>Diapositiva de portada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6C179DB-4EB2-BD8B-058B-50B714E8971E}"/>
              </a:ext>
            </a:extLst>
          </p:cNvPr>
          <p:cNvSpPr/>
          <p:nvPr/>
        </p:nvSpPr>
        <p:spPr>
          <a:xfrm>
            <a:off x="239832" y="176719"/>
            <a:ext cx="894828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Metaheurísticas aplicadas a la </a:t>
            </a:r>
          </a:p>
          <a:p>
            <a:r>
              <a:rPr lang="es-ES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planificación</a:t>
            </a:r>
            <a:r>
              <a:rPr lang="es-E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de procesos </a:t>
            </a:r>
          </a:p>
          <a:p>
            <a:r>
              <a:rPr lang="es-E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 desarrollo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D97FDEF-D026-C762-6106-1C31661761F9}"/>
              </a:ext>
            </a:extLst>
          </p:cNvPr>
          <p:cNvSpPr txBox="1"/>
          <p:nvPr/>
        </p:nvSpPr>
        <p:spPr>
          <a:xfrm>
            <a:off x="4592320" y="3667760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Core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DCDD7E-529F-075C-21CD-B8585F0478B5}"/>
              </a:ext>
            </a:extLst>
          </p:cNvPr>
          <p:cNvSpPr txBox="1"/>
          <p:nvPr/>
        </p:nvSpPr>
        <p:spPr>
          <a:xfrm>
            <a:off x="4592320" y="4160005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Junior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8332743-567E-42C6-FE9B-D95B45CCC19E}"/>
              </a:ext>
            </a:extLst>
          </p:cNvPr>
          <p:cNvSpPr txBox="1"/>
          <p:nvPr/>
        </p:nvSpPr>
        <p:spPr>
          <a:xfrm>
            <a:off x="4592320" y="4656217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Senior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E4BF7C-D05E-9D5D-F785-1D619D9D46AD}"/>
              </a:ext>
            </a:extLst>
          </p:cNvPr>
          <p:cNvSpPr txBox="1"/>
          <p:nvPr/>
        </p:nvSpPr>
        <p:spPr>
          <a:xfrm>
            <a:off x="4592320" y="5152429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solidFill>
                  <a:schemeClr val="bg1"/>
                </a:solidFill>
              </a:rPr>
              <a:t>Manager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20D77E8-3B44-094C-1E90-37BE8E4A585B}"/>
              </a:ext>
            </a:extLst>
          </p:cNvPr>
          <p:cNvSpPr/>
          <p:nvPr/>
        </p:nvSpPr>
        <p:spPr>
          <a:xfrm>
            <a:off x="239832" y="6034950"/>
            <a:ext cx="53237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Miguel García Bohigues</a:t>
            </a:r>
          </a:p>
        </p:txBody>
      </p:sp>
    </p:spTree>
    <p:extLst>
      <p:ext uri="{BB962C8B-B14F-4D97-AF65-F5344CB8AC3E}">
        <p14:creationId xmlns:p14="http://schemas.microsoft.com/office/powerpoint/2010/main" val="3644388987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1_Muestra de gráficos inteligentes de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9284_TF55917490_Win32" id="{F2C8D705-B5BD-4722-88C3-137C56310FC0}" vid="{98843E38-E990-4B1B-9FCB-50195B92AE3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Muestrario de gráficos inteligentes</Template>
  <TotalTime>175</TotalTime>
  <Words>481</Words>
  <Application>Microsoft Office PowerPoint</Application>
  <PresentationFormat>Panorámica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Segoe UI</vt:lpstr>
      <vt:lpstr>Segoe UI Light</vt:lpstr>
      <vt:lpstr>Segoe UI Semibold</vt:lpstr>
      <vt:lpstr>1_Muestra de gráficos inteligentes de Neal Creative</vt:lpstr>
      <vt:lpstr>Diapositiva de portada</vt:lpstr>
      <vt:lpstr>Descripción del problema</vt:lpstr>
      <vt:lpstr>Representación del problema</vt:lpstr>
      <vt:lpstr>Diseño algoritmo genético</vt:lpstr>
      <vt:lpstr>Diseño enfriamiento simulado</vt:lpstr>
      <vt:lpstr>Implementación</vt:lpstr>
      <vt:lpstr>Estimación de parámetros: AG</vt:lpstr>
      <vt:lpstr>Estimación de parámetros: ES</vt:lpstr>
      <vt:lpstr>AG vs ES</vt:lpstr>
      <vt:lpstr>AG vs ES</vt:lpstr>
      <vt:lpstr>Diapositiva de portada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de portada</dc:title>
  <dc:subject/>
  <dc:creator>Miguel Garcia Bohigues</dc:creator>
  <cp:keywords/>
  <dc:description/>
  <cp:lastModifiedBy>Miguel Garcia Bohigues</cp:lastModifiedBy>
  <cp:revision>2</cp:revision>
  <dcterms:created xsi:type="dcterms:W3CDTF">2022-10-25T14:12:11Z</dcterms:created>
  <dcterms:modified xsi:type="dcterms:W3CDTF">2022-10-25T17:07:15Z</dcterms:modified>
  <cp:category/>
</cp:coreProperties>
</file>